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C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autoAdjust="0"/>
    <p:restoredTop sz="94660"/>
  </p:normalViewPr>
  <p:slideViewPr>
    <p:cSldViewPr snapToGrid="0">
      <p:cViewPr>
        <p:scale>
          <a:sx n="66" d="100"/>
          <a:sy n="66" d="100"/>
        </p:scale>
        <p:origin x="168"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EF3D3B6-92AB-41ED-B62F-3BB18DC4D6DD}"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AD3075-C641-4062-BE89-E560F854CB05}" type="slidenum">
              <a:rPr lang="en-US" smtClean="0"/>
              <a:t>‹#›</a:t>
            </a:fld>
            <a:endParaRPr lang="en-US"/>
          </a:p>
        </p:txBody>
      </p:sp>
    </p:spTree>
    <p:extLst>
      <p:ext uri="{BB962C8B-B14F-4D97-AF65-F5344CB8AC3E}">
        <p14:creationId xmlns:p14="http://schemas.microsoft.com/office/powerpoint/2010/main" val="4004312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F3D3B6-92AB-41ED-B62F-3BB18DC4D6DD}"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AD3075-C641-4062-BE89-E560F854CB05}" type="slidenum">
              <a:rPr lang="en-US" smtClean="0"/>
              <a:t>‹#›</a:t>
            </a:fld>
            <a:endParaRPr lang="en-US"/>
          </a:p>
        </p:txBody>
      </p:sp>
    </p:spTree>
    <p:extLst>
      <p:ext uri="{BB962C8B-B14F-4D97-AF65-F5344CB8AC3E}">
        <p14:creationId xmlns:p14="http://schemas.microsoft.com/office/powerpoint/2010/main" val="4286215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F3D3B6-92AB-41ED-B62F-3BB18DC4D6DD}"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AD3075-C641-4062-BE89-E560F854CB05}" type="slidenum">
              <a:rPr lang="en-US" smtClean="0"/>
              <a:t>‹#›</a:t>
            </a:fld>
            <a:endParaRPr lang="en-US"/>
          </a:p>
        </p:txBody>
      </p:sp>
    </p:spTree>
    <p:extLst>
      <p:ext uri="{BB962C8B-B14F-4D97-AF65-F5344CB8AC3E}">
        <p14:creationId xmlns:p14="http://schemas.microsoft.com/office/powerpoint/2010/main" val="3806875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F3D3B6-92AB-41ED-B62F-3BB18DC4D6DD}"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AD3075-C641-4062-BE89-E560F854CB05}" type="slidenum">
              <a:rPr lang="en-US" smtClean="0"/>
              <a:t>‹#›</a:t>
            </a:fld>
            <a:endParaRPr lang="en-US"/>
          </a:p>
        </p:txBody>
      </p:sp>
    </p:spTree>
    <p:extLst>
      <p:ext uri="{BB962C8B-B14F-4D97-AF65-F5344CB8AC3E}">
        <p14:creationId xmlns:p14="http://schemas.microsoft.com/office/powerpoint/2010/main" val="2003106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F3D3B6-92AB-41ED-B62F-3BB18DC4D6DD}" type="datetimeFigureOut">
              <a:rPr lang="en-US" smtClean="0"/>
              <a:t>2/26/2026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AD3075-C641-4062-BE89-E560F854CB05}" type="slidenum">
              <a:rPr lang="en-US" smtClean="0"/>
              <a:t>‹#›</a:t>
            </a:fld>
            <a:endParaRPr lang="en-US"/>
          </a:p>
        </p:txBody>
      </p:sp>
    </p:spTree>
    <p:extLst>
      <p:ext uri="{BB962C8B-B14F-4D97-AF65-F5344CB8AC3E}">
        <p14:creationId xmlns:p14="http://schemas.microsoft.com/office/powerpoint/2010/main" val="3101311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F3D3B6-92AB-41ED-B62F-3BB18DC4D6DD}" type="datetimeFigureOut">
              <a:rPr lang="en-US" smtClean="0"/>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AD3075-C641-4062-BE89-E560F854CB05}" type="slidenum">
              <a:rPr lang="en-US" smtClean="0"/>
              <a:t>‹#›</a:t>
            </a:fld>
            <a:endParaRPr lang="en-US"/>
          </a:p>
        </p:txBody>
      </p:sp>
    </p:spTree>
    <p:extLst>
      <p:ext uri="{BB962C8B-B14F-4D97-AF65-F5344CB8AC3E}">
        <p14:creationId xmlns:p14="http://schemas.microsoft.com/office/powerpoint/2010/main" val="3102173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F3D3B6-92AB-41ED-B62F-3BB18DC4D6DD}" type="datetimeFigureOut">
              <a:rPr lang="en-US" smtClean="0"/>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5AD3075-C641-4062-BE89-E560F854CB05}" type="slidenum">
              <a:rPr lang="en-US" smtClean="0"/>
              <a:t>‹#›</a:t>
            </a:fld>
            <a:endParaRPr lang="en-US"/>
          </a:p>
        </p:txBody>
      </p:sp>
    </p:spTree>
    <p:extLst>
      <p:ext uri="{BB962C8B-B14F-4D97-AF65-F5344CB8AC3E}">
        <p14:creationId xmlns:p14="http://schemas.microsoft.com/office/powerpoint/2010/main" val="4151438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BEF3D3B6-92AB-41ED-B62F-3BB18DC4D6DD}"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AD3075-C641-4062-BE89-E560F854CB05}" type="slidenum">
              <a:rPr lang="en-US" smtClean="0"/>
              <a:t>‹#›</a:t>
            </a:fld>
            <a:endParaRPr lang="en-US"/>
          </a:p>
        </p:txBody>
      </p:sp>
    </p:spTree>
    <p:extLst>
      <p:ext uri="{BB962C8B-B14F-4D97-AF65-F5344CB8AC3E}">
        <p14:creationId xmlns:p14="http://schemas.microsoft.com/office/powerpoint/2010/main" val="1087228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BEF3D3B6-92AB-41ED-B62F-3BB18DC4D6DD}"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AD3075-C641-4062-BE89-E560F854CB05}" type="slidenum">
              <a:rPr lang="en-US" smtClean="0"/>
              <a:t>‹#›</a:t>
            </a:fld>
            <a:endParaRPr lang="en-US"/>
          </a:p>
        </p:txBody>
      </p:sp>
    </p:spTree>
    <p:extLst>
      <p:ext uri="{BB962C8B-B14F-4D97-AF65-F5344CB8AC3E}">
        <p14:creationId xmlns:p14="http://schemas.microsoft.com/office/powerpoint/2010/main" val="824419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F3D3B6-92AB-41ED-B62F-3BB18DC4D6DD}"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AD3075-C641-4062-BE89-E560F854CB05}" type="slidenum">
              <a:rPr lang="en-US" smtClean="0"/>
              <a:t>‹#›</a:t>
            </a:fld>
            <a:endParaRPr lang="en-US"/>
          </a:p>
        </p:txBody>
      </p:sp>
    </p:spTree>
    <p:extLst>
      <p:ext uri="{BB962C8B-B14F-4D97-AF65-F5344CB8AC3E}">
        <p14:creationId xmlns:p14="http://schemas.microsoft.com/office/powerpoint/2010/main" val="2606663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F3D3B6-92AB-41ED-B62F-3BB18DC4D6DD}"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AD3075-C641-4062-BE89-E560F854CB05}" type="slidenum">
              <a:rPr lang="en-US" smtClean="0"/>
              <a:t>‹#›</a:t>
            </a:fld>
            <a:endParaRPr lang="en-US"/>
          </a:p>
        </p:txBody>
      </p:sp>
    </p:spTree>
    <p:extLst>
      <p:ext uri="{BB962C8B-B14F-4D97-AF65-F5344CB8AC3E}">
        <p14:creationId xmlns:p14="http://schemas.microsoft.com/office/powerpoint/2010/main" val="4014821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BEF3D3B6-92AB-41ED-B62F-3BB18DC4D6DD}" type="datetimeFigureOut">
              <a:rPr lang="en-US" smtClean="0"/>
              <a:t>2/26/2026</a:t>
            </a:fld>
            <a:endParaRPr lang="en-US"/>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55AD3075-C641-4062-BE89-E560F854CB05}" type="slidenum">
              <a:rPr lang="en-US" smtClean="0"/>
              <a:t>‹#›</a:t>
            </a:fld>
            <a:endParaRPr lang="en-US"/>
          </a:p>
        </p:txBody>
      </p:sp>
    </p:spTree>
    <p:extLst>
      <p:ext uri="{BB962C8B-B14F-4D97-AF65-F5344CB8AC3E}">
        <p14:creationId xmlns:p14="http://schemas.microsoft.com/office/powerpoint/2010/main" val="20866512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23.sv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svg"/></Relationships>
</file>

<file path=ppt/slides/_rels/slide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CF1"/>
        </a:solidFill>
        <a:effectLst/>
      </p:bgPr>
    </p:bg>
    <p:spTree>
      <p:nvGrpSpPr>
        <p:cNvPr id="1" name=""/>
        <p:cNvGrpSpPr/>
        <p:nvPr/>
      </p:nvGrpSpPr>
      <p:grpSpPr>
        <a:xfrm>
          <a:off x="0" y="0"/>
          <a:ext cx="0" cy="0"/>
          <a:chOff x="0" y="0"/>
          <a:chExt cx="0" cy="0"/>
        </a:xfrm>
      </p:grpSpPr>
      <p:pic>
        <p:nvPicPr>
          <p:cNvPr id="11" name="Image 0" descr="preencoded.png">
            <a:extLst>
              <a:ext uri="{FF2B5EF4-FFF2-40B4-BE49-F238E27FC236}">
                <a16:creationId xmlns:a16="http://schemas.microsoft.com/office/drawing/2014/main" id="{5FAE1776-1493-15D9-8555-1D8D3D48B647}"/>
              </a:ext>
            </a:extLst>
          </p:cNvPr>
          <p:cNvPicPr>
            <a:picLocks noChangeAspect="1"/>
          </p:cNvPicPr>
          <p:nvPr/>
        </p:nvPicPr>
        <p:blipFill>
          <a:blip r:embed="rId2"/>
          <a:stretch>
            <a:fillRect/>
          </a:stretch>
        </p:blipFill>
        <p:spPr>
          <a:xfrm>
            <a:off x="0" y="0"/>
            <a:ext cx="5760720" cy="8229600"/>
          </a:xfrm>
          <a:prstGeom prst="rect">
            <a:avLst/>
          </a:prstGeom>
        </p:spPr>
      </p:pic>
      <p:sp>
        <p:nvSpPr>
          <p:cNvPr id="12" name="Text 0">
            <a:extLst>
              <a:ext uri="{FF2B5EF4-FFF2-40B4-BE49-F238E27FC236}">
                <a16:creationId xmlns:a16="http://schemas.microsoft.com/office/drawing/2014/main" id="{B68174C3-5A2E-7A60-3425-73AC3B6CD800}"/>
              </a:ext>
            </a:extLst>
          </p:cNvPr>
          <p:cNvSpPr/>
          <p:nvPr/>
        </p:nvSpPr>
        <p:spPr>
          <a:xfrm>
            <a:off x="7793117" y="3466028"/>
            <a:ext cx="6043493" cy="741759"/>
          </a:xfrm>
          <a:prstGeom prst="rect">
            <a:avLst/>
          </a:prstGeom>
          <a:noFill/>
          <a:ln/>
        </p:spPr>
        <p:txBody>
          <a:bodyPr wrap="none" lIns="0" tIns="0" rIns="0" bIns="0" rtlCol="0" anchor="t"/>
          <a:lstStyle/>
          <a:p>
            <a:pPr marL="0" indent="0" algn="r" rtl="1">
              <a:lnSpc>
                <a:spcPts val="5800"/>
              </a:lnSpc>
              <a:buNone/>
            </a:pPr>
            <a:r>
              <a:rPr lang="en-US" sz="4450" dirty="0">
                <a:solidFill>
                  <a:srgbClr val="532418"/>
                </a:solidFill>
                <a:latin typeface="Marcellus" pitchFamily="34" charset="0"/>
                <a:ea typeface="Marcellus" pitchFamily="34" charset="-122"/>
                <a:cs typeface="Marcellus" pitchFamily="34" charset="-120"/>
              </a:rPr>
              <a:t>الجهاز التنفسي في الإنسان</a:t>
            </a:r>
            <a:endParaRPr lang="en-US" sz="4450" dirty="0"/>
          </a:p>
        </p:txBody>
      </p:sp>
      <p:sp>
        <p:nvSpPr>
          <p:cNvPr id="13" name="Text 1">
            <a:extLst>
              <a:ext uri="{FF2B5EF4-FFF2-40B4-BE49-F238E27FC236}">
                <a16:creationId xmlns:a16="http://schemas.microsoft.com/office/drawing/2014/main" id="{F5BC8B27-F9EC-5F7B-EBC3-5BDC6D521536}"/>
              </a:ext>
            </a:extLst>
          </p:cNvPr>
          <p:cNvSpPr/>
          <p:nvPr/>
        </p:nvSpPr>
        <p:spPr>
          <a:xfrm>
            <a:off x="6280190" y="4505444"/>
            <a:ext cx="7556421" cy="258008"/>
          </a:xfrm>
          <a:prstGeom prst="rect">
            <a:avLst/>
          </a:prstGeom>
          <a:noFill/>
          <a:ln/>
        </p:spPr>
        <p:txBody>
          <a:bodyPr wrap="none" lIns="0" tIns="0" rIns="0" bIns="0" rtlCol="0" anchor="t"/>
          <a:lstStyle/>
          <a:p>
            <a:pPr marL="0" indent="0" algn="r" rtl="1">
              <a:lnSpc>
                <a:spcPts val="2000"/>
              </a:lnSpc>
              <a:buNone/>
            </a:pPr>
            <a:r>
              <a:rPr lang="en-US" sz="1550" dirty="0">
                <a:solidFill>
                  <a:srgbClr val="67534F"/>
                </a:solidFill>
                <a:latin typeface="Arial" panose="020B0604020202020204" pitchFamily="34" charset="0"/>
                <a:ea typeface="Montserrat" pitchFamily="34" charset="-122"/>
                <a:cs typeface="Arial" panose="020B0604020202020204" pitchFamily="34" charset="0"/>
              </a:rPr>
              <a:t>دراسة شاملة عن وظائف وتركيب الجهاز المسؤول عن الحياة والتنفس في جسم الإنسان</a:t>
            </a:r>
            <a:endParaRPr lang="en-US" sz="15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87156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CF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9E75024-8584-234D-D814-77EA357BED55}"/>
              </a:ext>
            </a:extLst>
          </p:cNvPr>
          <p:cNvSpPr/>
          <p:nvPr/>
        </p:nvSpPr>
        <p:spPr>
          <a:xfrm>
            <a:off x="8130540" y="1951196"/>
            <a:ext cx="5706070" cy="741759"/>
          </a:xfrm>
          <a:prstGeom prst="rect">
            <a:avLst/>
          </a:prstGeom>
          <a:noFill/>
          <a:ln/>
        </p:spPr>
        <p:txBody>
          <a:bodyPr wrap="none" lIns="0" tIns="0" rIns="0" bIns="0" rtlCol="0" anchor="t"/>
          <a:lstStyle/>
          <a:p>
            <a:pPr marL="0" indent="0" algn="r" rtl="1">
              <a:lnSpc>
                <a:spcPts val="5800"/>
              </a:lnSpc>
              <a:buNone/>
            </a:pPr>
            <a:r>
              <a:rPr lang="en-US" sz="4450" dirty="0">
                <a:solidFill>
                  <a:srgbClr val="532418"/>
                </a:solidFill>
                <a:latin typeface="Marcellus" pitchFamily="34" charset="0"/>
                <a:ea typeface="Marcellus" pitchFamily="34" charset="-122"/>
                <a:cs typeface="Marcellus" pitchFamily="34" charset="-120"/>
              </a:rPr>
              <a:t>ما هو الجهاز التنفسي؟</a:t>
            </a:r>
            <a:endParaRPr lang="en-US" sz="4450" dirty="0"/>
          </a:p>
        </p:txBody>
      </p:sp>
      <p:sp>
        <p:nvSpPr>
          <p:cNvPr id="3" name="Text 1">
            <a:extLst>
              <a:ext uri="{FF2B5EF4-FFF2-40B4-BE49-F238E27FC236}">
                <a16:creationId xmlns:a16="http://schemas.microsoft.com/office/drawing/2014/main" id="{0558829A-B42F-5B1E-A4FE-772324F9E389}"/>
              </a:ext>
            </a:extLst>
          </p:cNvPr>
          <p:cNvSpPr/>
          <p:nvPr/>
        </p:nvSpPr>
        <p:spPr>
          <a:xfrm>
            <a:off x="793790" y="3169206"/>
            <a:ext cx="6279356" cy="774025"/>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الجهاز التنفسي هو نظام حيوي معقد يلعب دوراً محورياً في استمرار الحياة. يتألف من مجموعة من الأعضاء التي تعمل معاً بشكل متناسق لتنفيذ عملية حيوية بالغة الأهمية.</a:t>
            </a:r>
            <a:endParaRPr lang="en-US" sz="1550" dirty="0">
              <a:latin typeface="Vazirmatn ExtraBold" pitchFamily="2" charset="-78"/>
              <a:cs typeface="Vazirmatn ExtraBold" pitchFamily="2" charset="-78"/>
            </a:endParaRPr>
          </a:p>
        </p:txBody>
      </p:sp>
      <p:sp>
        <p:nvSpPr>
          <p:cNvPr id="4" name="Text 2">
            <a:extLst>
              <a:ext uri="{FF2B5EF4-FFF2-40B4-BE49-F238E27FC236}">
                <a16:creationId xmlns:a16="http://schemas.microsoft.com/office/drawing/2014/main" id="{DC6D1B24-8BE6-31E6-2EF3-7AF54430BF48}"/>
              </a:ext>
            </a:extLst>
          </p:cNvPr>
          <p:cNvSpPr/>
          <p:nvPr/>
        </p:nvSpPr>
        <p:spPr>
          <a:xfrm>
            <a:off x="793790" y="4121825"/>
            <a:ext cx="6279356" cy="1032034"/>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وظيفة هذا الجهاز الأساسية هي تبادل الغازات: إدخال الأكسجين من البيئة المحيطة إلى الجسم، وإخراج ثاني أكسيد الكربون كناتج مضر من عمليات التمثيل الغذائي. هذا التبادل الغازي ضروري لحياة خلايا الجسم وإنتاج الطاقة التي تمكننا من القيام بالأنشطة اليومية.</a:t>
            </a:r>
            <a:endParaRPr lang="en-US" sz="1550" dirty="0">
              <a:latin typeface="Vazirmatn ExtraBold" pitchFamily="2" charset="-78"/>
              <a:cs typeface="Vazirmatn ExtraBold" pitchFamily="2" charset="-78"/>
            </a:endParaRPr>
          </a:p>
        </p:txBody>
      </p:sp>
      <p:pic>
        <p:nvPicPr>
          <p:cNvPr id="5" name="Image 0" descr="preencoded.png">
            <a:extLst>
              <a:ext uri="{FF2B5EF4-FFF2-40B4-BE49-F238E27FC236}">
                <a16:creationId xmlns:a16="http://schemas.microsoft.com/office/drawing/2014/main" id="{C61587F4-BE6A-E060-8456-297C7299FEB1}"/>
              </a:ext>
            </a:extLst>
          </p:cNvPr>
          <p:cNvPicPr>
            <a:picLocks noChangeAspect="1"/>
          </p:cNvPicPr>
          <p:nvPr/>
        </p:nvPicPr>
        <p:blipFill>
          <a:blip r:embed="rId2"/>
          <a:stretch>
            <a:fillRect/>
          </a:stretch>
        </p:blipFill>
        <p:spPr>
          <a:xfrm>
            <a:off x="7564874" y="3213854"/>
            <a:ext cx="6279356" cy="2841308"/>
          </a:xfrm>
          <a:prstGeom prst="rect">
            <a:avLst/>
          </a:prstGeom>
        </p:spPr>
      </p:pic>
    </p:spTree>
    <p:extLst>
      <p:ext uri="{BB962C8B-B14F-4D97-AF65-F5344CB8AC3E}">
        <p14:creationId xmlns:p14="http://schemas.microsoft.com/office/powerpoint/2010/main" val="4224597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CF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750B8A4-44F7-4770-E0DD-6EA59474775B}"/>
              </a:ext>
            </a:extLst>
          </p:cNvPr>
          <p:cNvSpPr/>
          <p:nvPr/>
        </p:nvSpPr>
        <p:spPr>
          <a:xfrm>
            <a:off x="7255073" y="1796891"/>
            <a:ext cx="6581537" cy="741759"/>
          </a:xfrm>
          <a:prstGeom prst="rect">
            <a:avLst/>
          </a:prstGeom>
          <a:noFill/>
          <a:ln/>
        </p:spPr>
        <p:txBody>
          <a:bodyPr wrap="none" lIns="0" tIns="0" rIns="0" bIns="0" rtlCol="0" anchor="t"/>
          <a:lstStyle/>
          <a:p>
            <a:pPr marL="0" indent="0" algn="r" rtl="1">
              <a:lnSpc>
                <a:spcPts val="5800"/>
              </a:lnSpc>
              <a:buNone/>
            </a:pPr>
            <a:r>
              <a:rPr lang="en-US" sz="4450" dirty="0">
                <a:solidFill>
                  <a:srgbClr val="532418"/>
                </a:solidFill>
                <a:latin typeface="Marcellus" pitchFamily="34" charset="0"/>
                <a:ea typeface="Marcellus" pitchFamily="34" charset="-122"/>
                <a:cs typeface="Marcellus" pitchFamily="34" charset="-120"/>
              </a:rPr>
              <a:t>مكونات الجهاز التنفسي العليا</a:t>
            </a:r>
            <a:endParaRPr lang="en-US" sz="4450" dirty="0"/>
          </a:p>
        </p:txBody>
      </p:sp>
      <p:sp>
        <p:nvSpPr>
          <p:cNvPr id="3" name="Text 1">
            <a:extLst>
              <a:ext uri="{FF2B5EF4-FFF2-40B4-BE49-F238E27FC236}">
                <a16:creationId xmlns:a16="http://schemas.microsoft.com/office/drawing/2014/main" id="{B90232A1-2914-1C8A-A84A-F98E25694B33}"/>
              </a:ext>
            </a:extLst>
          </p:cNvPr>
          <p:cNvSpPr/>
          <p:nvPr/>
        </p:nvSpPr>
        <p:spPr>
          <a:xfrm>
            <a:off x="793790" y="2935486"/>
            <a:ext cx="13042821" cy="258008"/>
          </a:xfrm>
          <a:prstGeom prst="rect">
            <a:avLst/>
          </a:prstGeom>
          <a:noFill/>
          <a:ln/>
        </p:spPr>
        <p:txBody>
          <a:bodyPr wrap="non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تبدأ رحلة الهواء في الجهاز التنفسي من الجزء العلوي، حيث يتم تحضير الهواء ليصل إلى الرئتين بحالة مثالية:</a:t>
            </a:r>
            <a:endParaRPr lang="en-US" sz="1550" dirty="0">
              <a:latin typeface="Vazirmatn ExtraBold" pitchFamily="2" charset="-78"/>
              <a:cs typeface="Vazirmatn ExtraBold" pitchFamily="2" charset="-78"/>
            </a:endParaRPr>
          </a:p>
        </p:txBody>
      </p:sp>
      <p:sp>
        <p:nvSpPr>
          <p:cNvPr id="4" name="Shape 2">
            <a:extLst>
              <a:ext uri="{FF2B5EF4-FFF2-40B4-BE49-F238E27FC236}">
                <a16:creationId xmlns:a16="http://schemas.microsoft.com/office/drawing/2014/main" id="{8461AFED-A809-6620-0BD4-CAA712FC0EA4}"/>
              </a:ext>
            </a:extLst>
          </p:cNvPr>
          <p:cNvSpPr/>
          <p:nvPr/>
        </p:nvSpPr>
        <p:spPr>
          <a:xfrm>
            <a:off x="9621322" y="3416737"/>
            <a:ext cx="4215289" cy="3015972"/>
          </a:xfrm>
          <a:prstGeom prst="roundRect">
            <a:avLst>
              <a:gd name="adj" fmla="val 2764"/>
            </a:avLst>
          </a:prstGeom>
          <a:solidFill>
            <a:srgbClr val="FFFFF4"/>
          </a:solidFill>
          <a:ln w="22860">
            <a:solidFill>
              <a:srgbClr val="FFE0CC"/>
            </a:solidFill>
            <a:prstDash val="solid"/>
          </a:ln>
        </p:spPr>
      </p:sp>
      <p:sp>
        <p:nvSpPr>
          <p:cNvPr id="5" name="Shape 3">
            <a:extLst>
              <a:ext uri="{FF2B5EF4-FFF2-40B4-BE49-F238E27FC236}">
                <a16:creationId xmlns:a16="http://schemas.microsoft.com/office/drawing/2014/main" id="{16EF0BFF-C6E0-AE41-5353-A74D008045DE}"/>
              </a:ext>
            </a:extLst>
          </p:cNvPr>
          <p:cNvSpPr/>
          <p:nvPr/>
        </p:nvSpPr>
        <p:spPr>
          <a:xfrm>
            <a:off x="13020080" y="3637955"/>
            <a:ext cx="595313" cy="595313"/>
          </a:xfrm>
          <a:prstGeom prst="roundRect">
            <a:avLst>
              <a:gd name="adj" fmla="val 15358451"/>
            </a:avLst>
          </a:prstGeom>
          <a:solidFill>
            <a:srgbClr val="FF954F"/>
          </a:solidFill>
          <a:ln/>
        </p:spPr>
      </p:sp>
      <p:pic>
        <p:nvPicPr>
          <p:cNvPr id="6" name="Image 0" descr="preencoded.png">
            <a:extLst>
              <a:ext uri="{FF2B5EF4-FFF2-40B4-BE49-F238E27FC236}">
                <a16:creationId xmlns:a16="http://schemas.microsoft.com/office/drawing/2014/main" id="{06110A44-AF83-24EE-1BB2-9A5F6E72DDF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183791" y="3801547"/>
            <a:ext cx="267891" cy="267891"/>
          </a:xfrm>
          <a:prstGeom prst="rect">
            <a:avLst/>
          </a:prstGeom>
        </p:spPr>
      </p:pic>
      <p:sp>
        <p:nvSpPr>
          <p:cNvPr id="7" name="Text 4">
            <a:extLst>
              <a:ext uri="{FF2B5EF4-FFF2-40B4-BE49-F238E27FC236}">
                <a16:creationId xmlns:a16="http://schemas.microsoft.com/office/drawing/2014/main" id="{FF30A1A1-F027-9BF1-1530-C9859C27DADA}"/>
              </a:ext>
            </a:extLst>
          </p:cNvPr>
          <p:cNvSpPr/>
          <p:nvPr/>
        </p:nvSpPr>
        <p:spPr>
          <a:xfrm>
            <a:off x="10762417" y="4431625"/>
            <a:ext cx="2852976" cy="370761"/>
          </a:xfrm>
          <a:prstGeom prst="rect">
            <a:avLst/>
          </a:prstGeom>
          <a:noFill/>
          <a:ln/>
        </p:spPr>
        <p:txBody>
          <a:bodyPr wrap="none" lIns="0" tIns="0" rIns="0" bIns="0" rtlCol="0" anchor="t"/>
          <a:lstStyle/>
          <a:p>
            <a:pPr marL="0" indent="0" algn="r" rtl="1">
              <a:lnSpc>
                <a:spcPts val="2900"/>
              </a:lnSpc>
              <a:buNone/>
            </a:pPr>
            <a:r>
              <a:rPr lang="en-US" sz="2200" dirty="0">
                <a:solidFill>
                  <a:srgbClr val="67534F"/>
                </a:solidFill>
                <a:latin typeface="Marcellus" pitchFamily="34" charset="0"/>
                <a:ea typeface="Marcellus" pitchFamily="34" charset="-122"/>
                <a:cs typeface="Marcellus" pitchFamily="34" charset="-120"/>
              </a:rPr>
              <a:t>الأنف</a:t>
            </a:r>
            <a:endParaRPr lang="en-US" sz="2200" dirty="0"/>
          </a:p>
        </p:txBody>
      </p:sp>
      <p:sp>
        <p:nvSpPr>
          <p:cNvPr id="8" name="Text 5">
            <a:extLst>
              <a:ext uri="{FF2B5EF4-FFF2-40B4-BE49-F238E27FC236}">
                <a16:creationId xmlns:a16="http://schemas.microsoft.com/office/drawing/2014/main" id="{B8B69A08-DDE3-FF18-E32A-FFE5E133CC6F}"/>
              </a:ext>
            </a:extLst>
          </p:cNvPr>
          <p:cNvSpPr/>
          <p:nvPr/>
        </p:nvSpPr>
        <p:spPr>
          <a:xfrm>
            <a:off x="9842540" y="4921448"/>
            <a:ext cx="3772853" cy="1290042"/>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مدخل الهواء الرئيسي الذي يقوم بتصفية الهواء من الغبار والجراثيم، وترطيبه بالرطوبة اللازمة، وتسخينه ليصل إلى درجة حرارة الجسم المناسبة قبل دخوله إلى الأجزاء العميقة من الجهاز التنفسي.</a:t>
            </a:r>
            <a:endParaRPr lang="en-US" sz="1550" dirty="0">
              <a:latin typeface="Vazirmatn ExtraBold" pitchFamily="2" charset="-78"/>
              <a:cs typeface="Vazirmatn ExtraBold" pitchFamily="2" charset="-78"/>
            </a:endParaRPr>
          </a:p>
        </p:txBody>
      </p:sp>
      <p:sp>
        <p:nvSpPr>
          <p:cNvPr id="9" name="Shape 6">
            <a:extLst>
              <a:ext uri="{FF2B5EF4-FFF2-40B4-BE49-F238E27FC236}">
                <a16:creationId xmlns:a16="http://schemas.microsoft.com/office/drawing/2014/main" id="{978B4C22-21E5-D4C0-404B-808A72C00CBD}"/>
              </a:ext>
            </a:extLst>
          </p:cNvPr>
          <p:cNvSpPr/>
          <p:nvPr/>
        </p:nvSpPr>
        <p:spPr>
          <a:xfrm>
            <a:off x="5207556" y="3416737"/>
            <a:ext cx="4215408" cy="3015972"/>
          </a:xfrm>
          <a:prstGeom prst="roundRect">
            <a:avLst>
              <a:gd name="adj" fmla="val 2764"/>
            </a:avLst>
          </a:prstGeom>
          <a:solidFill>
            <a:srgbClr val="FFFFF4"/>
          </a:solidFill>
          <a:ln w="22860">
            <a:solidFill>
              <a:srgbClr val="FFE0CC"/>
            </a:solidFill>
            <a:prstDash val="solid"/>
          </a:ln>
        </p:spPr>
      </p:sp>
      <p:sp>
        <p:nvSpPr>
          <p:cNvPr id="10" name="Shape 7">
            <a:extLst>
              <a:ext uri="{FF2B5EF4-FFF2-40B4-BE49-F238E27FC236}">
                <a16:creationId xmlns:a16="http://schemas.microsoft.com/office/drawing/2014/main" id="{8F2AFC2D-AA26-1B37-EF83-0F04C76667EE}"/>
              </a:ext>
            </a:extLst>
          </p:cNvPr>
          <p:cNvSpPr/>
          <p:nvPr/>
        </p:nvSpPr>
        <p:spPr>
          <a:xfrm>
            <a:off x="8606433" y="3637955"/>
            <a:ext cx="595313" cy="595313"/>
          </a:xfrm>
          <a:prstGeom prst="roundRect">
            <a:avLst>
              <a:gd name="adj" fmla="val 15358451"/>
            </a:avLst>
          </a:prstGeom>
          <a:solidFill>
            <a:srgbClr val="FF954F"/>
          </a:solidFill>
          <a:ln/>
        </p:spPr>
      </p:sp>
      <p:pic>
        <p:nvPicPr>
          <p:cNvPr id="11" name="Image 1" descr="preencoded.png">
            <a:extLst>
              <a:ext uri="{FF2B5EF4-FFF2-40B4-BE49-F238E27FC236}">
                <a16:creationId xmlns:a16="http://schemas.microsoft.com/office/drawing/2014/main" id="{5504B400-D127-CE43-225E-B4340B07749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70144" y="3801547"/>
            <a:ext cx="267891" cy="267891"/>
          </a:xfrm>
          <a:prstGeom prst="rect">
            <a:avLst/>
          </a:prstGeom>
        </p:spPr>
      </p:pic>
      <p:sp>
        <p:nvSpPr>
          <p:cNvPr id="12" name="Text 8">
            <a:extLst>
              <a:ext uri="{FF2B5EF4-FFF2-40B4-BE49-F238E27FC236}">
                <a16:creationId xmlns:a16="http://schemas.microsoft.com/office/drawing/2014/main" id="{18A08ADD-276A-5279-804B-B5E7F9C0D715}"/>
              </a:ext>
            </a:extLst>
          </p:cNvPr>
          <p:cNvSpPr/>
          <p:nvPr/>
        </p:nvSpPr>
        <p:spPr>
          <a:xfrm>
            <a:off x="6348770" y="4431625"/>
            <a:ext cx="2852976" cy="370761"/>
          </a:xfrm>
          <a:prstGeom prst="rect">
            <a:avLst/>
          </a:prstGeom>
          <a:noFill/>
          <a:ln/>
        </p:spPr>
        <p:txBody>
          <a:bodyPr wrap="none" lIns="0" tIns="0" rIns="0" bIns="0" rtlCol="0" anchor="t"/>
          <a:lstStyle/>
          <a:p>
            <a:pPr marL="0" indent="0" algn="r" rtl="1">
              <a:lnSpc>
                <a:spcPts val="2900"/>
              </a:lnSpc>
              <a:buNone/>
            </a:pPr>
            <a:r>
              <a:rPr lang="en-US" sz="2200" dirty="0">
                <a:solidFill>
                  <a:srgbClr val="67534F"/>
                </a:solidFill>
                <a:latin typeface="Marcellus" pitchFamily="34" charset="0"/>
                <a:ea typeface="Marcellus" pitchFamily="34" charset="-122"/>
                <a:cs typeface="Marcellus" pitchFamily="34" charset="-120"/>
              </a:rPr>
              <a:t>البلعوم</a:t>
            </a:r>
            <a:endParaRPr lang="en-US" sz="2200" dirty="0"/>
          </a:p>
        </p:txBody>
      </p:sp>
      <p:sp>
        <p:nvSpPr>
          <p:cNvPr id="13" name="Text 9">
            <a:extLst>
              <a:ext uri="{FF2B5EF4-FFF2-40B4-BE49-F238E27FC236}">
                <a16:creationId xmlns:a16="http://schemas.microsoft.com/office/drawing/2014/main" id="{27E6F7D8-4FFB-BDB0-12D9-A64265406FEC}"/>
              </a:ext>
            </a:extLst>
          </p:cNvPr>
          <p:cNvSpPr/>
          <p:nvPr/>
        </p:nvSpPr>
        <p:spPr>
          <a:xfrm>
            <a:off x="5428774" y="4921448"/>
            <a:ext cx="3772972" cy="1032034"/>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تجويف يقع خلف الأنف والفم، يعمل كممر مشترك للهواء والطعام، حيث ينقسم إلى ثلاثة أجزاء: الأنفي والشفهي والحلقي، ويعمل على توجيه الهواء نحو الحنجرة.</a:t>
            </a:r>
            <a:endParaRPr lang="en-US" sz="1550" dirty="0">
              <a:latin typeface="Vazirmatn ExtraBold" pitchFamily="2" charset="-78"/>
              <a:cs typeface="Vazirmatn ExtraBold" pitchFamily="2" charset="-78"/>
            </a:endParaRPr>
          </a:p>
        </p:txBody>
      </p:sp>
      <p:sp>
        <p:nvSpPr>
          <p:cNvPr id="14" name="Shape 10">
            <a:extLst>
              <a:ext uri="{FF2B5EF4-FFF2-40B4-BE49-F238E27FC236}">
                <a16:creationId xmlns:a16="http://schemas.microsoft.com/office/drawing/2014/main" id="{5C06EB7A-90D0-AA07-966C-2A302BB9BE02}"/>
              </a:ext>
            </a:extLst>
          </p:cNvPr>
          <p:cNvSpPr/>
          <p:nvPr/>
        </p:nvSpPr>
        <p:spPr>
          <a:xfrm>
            <a:off x="793909" y="3416737"/>
            <a:ext cx="4215289" cy="3015972"/>
          </a:xfrm>
          <a:prstGeom prst="roundRect">
            <a:avLst>
              <a:gd name="adj" fmla="val 2764"/>
            </a:avLst>
          </a:prstGeom>
          <a:solidFill>
            <a:srgbClr val="FFFFF4"/>
          </a:solidFill>
          <a:ln w="22860">
            <a:solidFill>
              <a:srgbClr val="FFE0CC"/>
            </a:solidFill>
            <a:prstDash val="solid"/>
          </a:ln>
        </p:spPr>
      </p:sp>
      <p:sp>
        <p:nvSpPr>
          <p:cNvPr id="15" name="Shape 11">
            <a:extLst>
              <a:ext uri="{FF2B5EF4-FFF2-40B4-BE49-F238E27FC236}">
                <a16:creationId xmlns:a16="http://schemas.microsoft.com/office/drawing/2014/main" id="{C60C0924-6F43-3C17-F6BC-7321E24F106E}"/>
              </a:ext>
            </a:extLst>
          </p:cNvPr>
          <p:cNvSpPr/>
          <p:nvPr/>
        </p:nvSpPr>
        <p:spPr>
          <a:xfrm>
            <a:off x="4192667" y="3637955"/>
            <a:ext cx="595313" cy="595313"/>
          </a:xfrm>
          <a:prstGeom prst="roundRect">
            <a:avLst>
              <a:gd name="adj" fmla="val 15358451"/>
            </a:avLst>
          </a:prstGeom>
          <a:solidFill>
            <a:srgbClr val="FF954F"/>
          </a:solidFill>
          <a:ln/>
        </p:spPr>
      </p:sp>
      <p:pic>
        <p:nvPicPr>
          <p:cNvPr id="16" name="Image 2" descr="preencoded.png">
            <a:extLst>
              <a:ext uri="{FF2B5EF4-FFF2-40B4-BE49-F238E27FC236}">
                <a16:creationId xmlns:a16="http://schemas.microsoft.com/office/drawing/2014/main" id="{4A6045B8-09CE-4C02-E8E7-5BCA14D2B0E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56378" y="3801547"/>
            <a:ext cx="267891" cy="267891"/>
          </a:xfrm>
          <a:prstGeom prst="rect">
            <a:avLst/>
          </a:prstGeom>
        </p:spPr>
      </p:pic>
      <p:sp>
        <p:nvSpPr>
          <p:cNvPr id="17" name="Text 12">
            <a:extLst>
              <a:ext uri="{FF2B5EF4-FFF2-40B4-BE49-F238E27FC236}">
                <a16:creationId xmlns:a16="http://schemas.microsoft.com/office/drawing/2014/main" id="{C2E24B72-6EB6-187B-E25C-0B3F494D19B4}"/>
              </a:ext>
            </a:extLst>
          </p:cNvPr>
          <p:cNvSpPr/>
          <p:nvPr/>
        </p:nvSpPr>
        <p:spPr>
          <a:xfrm>
            <a:off x="1935004" y="4431625"/>
            <a:ext cx="2852976" cy="370761"/>
          </a:xfrm>
          <a:prstGeom prst="rect">
            <a:avLst/>
          </a:prstGeom>
          <a:noFill/>
          <a:ln/>
        </p:spPr>
        <p:txBody>
          <a:bodyPr wrap="none" lIns="0" tIns="0" rIns="0" bIns="0" rtlCol="0" anchor="t"/>
          <a:lstStyle/>
          <a:p>
            <a:pPr marL="0" indent="0" algn="r" rtl="1">
              <a:lnSpc>
                <a:spcPts val="2900"/>
              </a:lnSpc>
              <a:buNone/>
            </a:pPr>
            <a:r>
              <a:rPr lang="en-US" sz="2200" dirty="0">
                <a:solidFill>
                  <a:srgbClr val="67534F"/>
                </a:solidFill>
                <a:latin typeface="Marcellus" pitchFamily="34" charset="0"/>
                <a:ea typeface="Marcellus" pitchFamily="34" charset="-122"/>
                <a:cs typeface="Marcellus" pitchFamily="34" charset="-120"/>
              </a:rPr>
              <a:t>الحنجرة</a:t>
            </a:r>
            <a:endParaRPr lang="en-US" sz="2200" dirty="0"/>
          </a:p>
        </p:txBody>
      </p:sp>
      <p:sp>
        <p:nvSpPr>
          <p:cNvPr id="18" name="Text 13">
            <a:extLst>
              <a:ext uri="{FF2B5EF4-FFF2-40B4-BE49-F238E27FC236}">
                <a16:creationId xmlns:a16="http://schemas.microsoft.com/office/drawing/2014/main" id="{8A5E73AF-0656-B0DE-4DA2-74F1B4FE132B}"/>
              </a:ext>
            </a:extLst>
          </p:cNvPr>
          <p:cNvSpPr/>
          <p:nvPr/>
        </p:nvSpPr>
        <p:spPr>
          <a:xfrm>
            <a:off x="1015127" y="4921448"/>
            <a:ext cx="3772853" cy="1032034"/>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عضو يقع في الجزء العلوي من الرغامى، يحتوي على الحبال الصوتية التي تمكن الإنسان من النطق، ويحتوي على صمام (الغطاء الصماقي) الذي يمنع دخول الطعام إلى الممرات الهوائية.</a:t>
            </a:r>
            <a:endParaRPr lang="en-US" sz="1550" dirty="0">
              <a:latin typeface="Vazirmatn ExtraBold" pitchFamily="2" charset="-78"/>
              <a:cs typeface="Vazirmatn ExtraBold" pitchFamily="2" charset="-78"/>
            </a:endParaRPr>
          </a:p>
        </p:txBody>
      </p:sp>
    </p:spTree>
    <p:extLst>
      <p:ext uri="{BB962C8B-B14F-4D97-AF65-F5344CB8AC3E}">
        <p14:creationId xmlns:p14="http://schemas.microsoft.com/office/powerpoint/2010/main" val="3730008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CF1"/>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7F55397-F1C1-7F03-C677-BA9FD70A9578}"/>
              </a:ext>
            </a:extLst>
          </p:cNvPr>
          <p:cNvPicPr>
            <a:picLocks noChangeAspect="1"/>
          </p:cNvPicPr>
          <p:nvPr/>
        </p:nvPicPr>
        <p:blipFill>
          <a:blip r:embed="rId2"/>
          <a:stretch>
            <a:fillRect/>
          </a:stretch>
        </p:blipFill>
        <p:spPr>
          <a:xfrm>
            <a:off x="0" y="0"/>
            <a:ext cx="5760720" cy="8229600"/>
          </a:xfrm>
          <a:prstGeom prst="rect">
            <a:avLst/>
          </a:prstGeom>
        </p:spPr>
      </p:pic>
      <p:sp>
        <p:nvSpPr>
          <p:cNvPr id="3" name="Text 0">
            <a:extLst>
              <a:ext uri="{FF2B5EF4-FFF2-40B4-BE49-F238E27FC236}">
                <a16:creationId xmlns:a16="http://schemas.microsoft.com/office/drawing/2014/main" id="{F6F3B414-407F-AB3D-A59B-1738CE7DEC51}"/>
              </a:ext>
            </a:extLst>
          </p:cNvPr>
          <p:cNvSpPr/>
          <p:nvPr/>
        </p:nvSpPr>
        <p:spPr>
          <a:xfrm>
            <a:off x="7912775" y="1484948"/>
            <a:ext cx="5923836" cy="741759"/>
          </a:xfrm>
          <a:prstGeom prst="rect">
            <a:avLst/>
          </a:prstGeom>
          <a:noFill/>
          <a:ln/>
        </p:spPr>
        <p:txBody>
          <a:bodyPr wrap="none" lIns="0" tIns="0" rIns="0" bIns="0" rtlCol="0" anchor="t"/>
          <a:lstStyle/>
          <a:p>
            <a:pPr marL="0" indent="0" algn="r" rtl="1">
              <a:lnSpc>
                <a:spcPts val="5800"/>
              </a:lnSpc>
              <a:buNone/>
            </a:pPr>
            <a:r>
              <a:rPr lang="en-US" sz="4450" dirty="0">
                <a:solidFill>
                  <a:srgbClr val="532418"/>
                </a:solidFill>
                <a:latin typeface="Marcellus" pitchFamily="34" charset="0"/>
                <a:ea typeface="Marcellus" pitchFamily="34" charset="-122"/>
                <a:cs typeface="Marcellus" pitchFamily="34" charset="-120"/>
              </a:rPr>
              <a:t>الرغامى والقصبات الهوائية</a:t>
            </a:r>
            <a:endParaRPr lang="en-US" sz="4450" dirty="0"/>
          </a:p>
        </p:txBody>
      </p:sp>
      <p:sp>
        <p:nvSpPr>
          <p:cNvPr id="4" name="Text 1">
            <a:extLst>
              <a:ext uri="{FF2B5EF4-FFF2-40B4-BE49-F238E27FC236}">
                <a16:creationId xmlns:a16="http://schemas.microsoft.com/office/drawing/2014/main" id="{582F90F0-039A-AB33-83AA-3AC679550047}"/>
              </a:ext>
            </a:extLst>
          </p:cNvPr>
          <p:cNvSpPr/>
          <p:nvPr/>
        </p:nvSpPr>
        <p:spPr>
          <a:xfrm>
            <a:off x="13638252" y="2524363"/>
            <a:ext cx="198358" cy="258008"/>
          </a:xfrm>
          <a:prstGeom prst="rect">
            <a:avLst/>
          </a:prstGeom>
          <a:noFill/>
          <a:ln/>
        </p:spPr>
        <p:txBody>
          <a:bodyPr wrap="none" lIns="0" tIns="0" rIns="0" bIns="0" rtlCol="0" anchor="t"/>
          <a:lstStyle/>
          <a:p>
            <a:pPr marL="0" indent="0" algn="l" rtl="1">
              <a:lnSpc>
                <a:spcPts val="2000"/>
              </a:lnSpc>
              <a:buNone/>
            </a:pPr>
            <a:r>
              <a:rPr lang="en-US" sz="1550" dirty="0">
                <a:solidFill>
                  <a:srgbClr val="67534F"/>
                </a:solidFill>
                <a:latin typeface="Marcellus Light" pitchFamily="34" charset="0"/>
                <a:ea typeface="Marcellus Light" pitchFamily="34" charset="-122"/>
                <a:cs typeface="Marcellus Light" pitchFamily="34" charset="-120"/>
              </a:rPr>
              <a:t>01</a:t>
            </a:r>
            <a:endParaRPr lang="en-US" sz="1550" dirty="0"/>
          </a:p>
        </p:txBody>
      </p:sp>
      <p:sp>
        <p:nvSpPr>
          <p:cNvPr id="5" name="Shape 2">
            <a:extLst>
              <a:ext uri="{FF2B5EF4-FFF2-40B4-BE49-F238E27FC236}">
                <a16:creationId xmlns:a16="http://schemas.microsoft.com/office/drawing/2014/main" id="{91357BD8-D901-4090-948A-29B056BDE07A}"/>
              </a:ext>
            </a:extLst>
          </p:cNvPr>
          <p:cNvSpPr/>
          <p:nvPr/>
        </p:nvSpPr>
        <p:spPr>
          <a:xfrm>
            <a:off x="10157579" y="2848689"/>
            <a:ext cx="3679031" cy="22860"/>
          </a:xfrm>
          <a:prstGeom prst="rect">
            <a:avLst/>
          </a:prstGeom>
          <a:solidFill>
            <a:srgbClr val="FF954F"/>
          </a:solidFill>
          <a:ln/>
        </p:spPr>
      </p:sp>
      <p:sp>
        <p:nvSpPr>
          <p:cNvPr id="6" name="Text 3">
            <a:extLst>
              <a:ext uri="{FF2B5EF4-FFF2-40B4-BE49-F238E27FC236}">
                <a16:creationId xmlns:a16="http://schemas.microsoft.com/office/drawing/2014/main" id="{A2388B9E-25A9-DCE9-0494-23FF480B4CA9}"/>
              </a:ext>
            </a:extLst>
          </p:cNvPr>
          <p:cNvSpPr/>
          <p:nvPr/>
        </p:nvSpPr>
        <p:spPr>
          <a:xfrm>
            <a:off x="10983635" y="2993588"/>
            <a:ext cx="2852976" cy="370761"/>
          </a:xfrm>
          <a:prstGeom prst="rect">
            <a:avLst/>
          </a:prstGeom>
          <a:noFill/>
          <a:ln/>
        </p:spPr>
        <p:txBody>
          <a:bodyPr wrap="none" lIns="0" tIns="0" rIns="0" bIns="0" rtlCol="0" anchor="t"/>
          <a:lstStyle/>
          <a:p>
            <a:pPr marL="0" indent="0" algn="r" rtl="1">
              <a:lnSpc>
                <a:spcPts val="2900"/>
              </a:lnSpc>
              <a:buNone/>
            </a:pPr>
            <a:r>
              <a:rPr lang="en-US" sz="2200" dirty="0">
                <a:solidFill>
                  <a:srgbClr val="67534F"/>
                </a:solidFill>
                <a:latin typeface="Marcellus" pitchFamily="34" charset="0"/>
                <a:ea typeface="Marcellus" pitchFamily="34" charset="-122"/>
                <a:cs typeface="Marcellus" pitchFamily="34" charset="-120"/>
              </a:rPr>
              <a:t>الرغامى (القصبة الهوائية)</a:t>
            </a:r>
            <a:endParaRPr lang="en-US" sz="2200" dirty="0"/>
          </a:p>
        </p:txBody>
      </p:sp>
      <p:sp>
        <p:nvSpPr>
          <p:cNvPr id="7" name="Text 4">
            <a:extLst>
              <a:ext uri="{FF2B5EF4-FFF2-40B4-BE49-F238E27FC236}">
                <a16:creationId xmlns:a16="http://schemas.microsoft.com/office/drawing/2014/main" id="{48F56D69-3C23-44FD-6771-03FFDDE05821}"/>
              </a:ext>
            </a:extLst>
          </p:cNvPr>
          <p:cNvSpPr/>
          <p:nvPr/>
        </p:nvSpPr>
        <p:spPr>
          <a:xfrm>
            <a:off x="10157579" y="3483412"/>
            <a:ext cx="3679031" cy="1290042"/>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أنبوب مرن وقوي يبلغ طوله حوالي 10-12 سم، ينقل الهواء من الحنجرة إلى الرئتين. يتميز بحلقات غضروفية على شكل حرف C تحيط به، وهذه الحلقات تعمل على دعم الجدار وتحافظ على انفتاح الأنبوب باستمرار.</a:t>
            </a:r>
            <a:endParaRPr lang="en-US" sz="1550" dirty="0">
              <a:latin typeface="Vazirmatn ExtraBold" pitchFamily="2" charset="-78"/>
              <a:cs typeface="Vazirmatn ExtraBold" pitchFamily="2" charset="-78"/>
            </a:endParaRPr>
          </a:p>
        </p:txBody>
      </p:sp>
      <p:sp>
        <p:nvSpPr>
          <p:cNvPr id="8" name="Text 5">
            <a:extLst>
              <a:ext uri="{FF2B5EF4-FFF2-40B4-BE49-F238E27FC236}">
                <a16:creationId xmlns:a16="http://schemas.microsoft.com/office/drawing/2014/main" id="{56FD33C1-6972-A984-E4A4-1E050921967E}"/>
              </a:ext>
            </a:extLst>
          </p:cNvPr>
          <p:cNvSpPr/>
          <p:nvPr/>
        </p:nvSpPr>
        <p:spPr>
          <a:xfrm>
            <a:off x="9760863" y="2524363"/>
            <a:ext cx="198358" cy="258008"/>
          </a:xfrm>
          <a:prstGeom prst="rect">
            <a:avLst/>
          </a:prstGeom>
          <a:noFill/>
          <a:ln/>
        </p:spPr>
        <p:txBody>
          <a:bodyPr wrap="none" lIns="0" tIns="0" rIns="0" bIns="0" rtlCol="0" anchor="t"/>
          <a:lstStyle/>
          <a:p>
            <a:pPr marL="0" indent="0" algn="l" rtl="1">
              <a:lnSpc>
                <a:spcPts val="2000"/>
              </a:lnSpc>
              <a:buNone/>
            </a:pPr>
            <a:r>
              <a:rPr lang="en-US" sz="1550" dirty="0">
                <a:solidFill>
                  <a:srgbClr val="67534F"/>
                </a:solidFill>
                <a:latin typeface="Marcellus Light" pitchFamily="34" charset="0"/>
                <a:ea typeface="Marcellus Light" pitchFamily="34" charset="-122"/>
                <a:cs typeface="Marcellus Light" pitchFamily="34" charset="-120"/>
              </a:rPr>
              <a:t>02</a:t>
            </a:r>
            <a:endParaRPr lang="en-US" sz="1550" dirty="0"/>
          </a:p>
        </p:txBody>
      </p:sp>
      <p:sp>
        <p:nvSpPr>
          <p:cNvPr id="9" name="Shape 6">
            <a:extLst>
              <a:ext uri="{FF2B5EF4-FFF2-40B4-BE49-F238E27FC236}">
                <a16:creationId xmlns:a16="http://schemas.microsoft.com/office/drawing/2014/main" id="{D2784727-2AE1-CB79-63EF-B72EAF8CE01D}"/>
              </a:ext>
            </a:extLst>
          </p:cNvPr>
          <p:cNvSpPr/>
          <p:nvPr/>
        </p:nvSpPr>
        <p:spPr>
          <a:xfrm>
            <a:off x="6280190" y="2848689"/>
            <a:ext cx="3679031" cy="22860"/>
          </a:xfrm>
          <a:prstGeom prst="rect">
            <a:avLst/>
          </a:prstGeom>
          <a:solidFill>
            <a:srgbClr val="FF954F"/>
          </a:solidFill>
          <a:ln/>
        </p:spPr>
      </p:sp>
      <p:sp>
        <p:nvSpPr>
          <p:cNvPr id="10" name="Text 7">
            <a:extLst>
              <a:ext uri="{FF2B5EF4-FFF2-40B4-BE49-F238E27FC236}">
                <a16:creationId xmlns:a16="http://schemas.microsoft.com/office/drawing/2014/main" id="{25D6EE1A-C908-B30D-8C08-4FE43065DC3E}"/>
              </a:ext>
            </a:extLst>
          </p:cNvPr>
          <p:cNvSpPr/>
          <p:nvPr/>
        </p:nvSpPr>
        <p:spPr>
          <a:xfrm>
            <a:off x="7106245" y="2993588"/>
            <a:ext cx="2852976" cy="370761"/>
          </a:xfrm>
          <a:prstGeom prst="rect">
            <a:avLst/>
          </a:prstGeom>
          <a:noFill/>
          <a:ln/>
        </p:spPr>
        <p:txBody>
          <a:bodyPr wrap="none" lIns="0" tIns="0" rIns="0" bIns="0" rtlCol="0" anchor="t"/>
          <a:lstStyle/>
          <a:p>
            <a:pPr marL="0" indent="0" algn="r" rtl="1">
              <a:lnSpc>
                <a:spcPts val="2900"/>
              </a:lnSpc>
              <a:buNone/>
            </a:pPr>
            <a:r>
              <a:rPr lang="en-US" sz="2200" dirty="0">
                <a:solidFill>
                  <a:srgbClr val="67534F"/>
                </a:solidFill>
                <a:latin typeface="Marcellus" pitchFamily="34" charset="0"/>
                <a:ea typeface="Marcellus" pitchFamily="34" charset="-122"/>
                <a:cs typeface="Marcellus" pitchFamily="34" charset="-120"/>
              </a:rPr>
              <a:t>القصبات الهوائية</a:t>
            </a:r>
            <a:endParaRPr lang="en-US" sz="2200" dirty="0"/>
          </a:p>
        </p:txBody>
      </p:sp>
      <p:sp>
        <p:nvSpPr>
          <p:cNvPr id="11" name="Text 8">
            <a:extLst>
              <a:ext uri="{FF2B5EF4-FFF2-40B4-BE49-F238E27FC236}">
                <a16:creationId xmlns:a16="http://schemas.microsoft.com/office/drawing/2014/main" id="{15043DE1-B4E1-2F83-0746-A8EC83308B01}"/>
              </a:ext>
            </a:extLst>
          </p:cNvPr>
          <p:cNvSpPr/>
          <p:nvPr/>
        </p:nvSpPr>
        <p:spPr>
          <a:xfrm>
            <a:off x="6280190" y="3483412"/>
            <a:ext cx="3679031" cy="1032034"/>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تتفرع الرغامى عند مستوى القفص الصدري إلى قصبتين رئيسيتين: قصبة رئوية يسرى وقصبة رئوية يمنى، وكل منهما تدخل في رئتها المخصصة.</a:t>
            </a:r>
            <a:endParaRPr lang="en-US" sz="1550" dirty="0">
              <a:latin typeface="Vazirmatn ExtraBold" pitchFamily="2" charset="-78"/>
              <a:cs typeface="Vazirmatn ExtraBold" pitchFamily="2" charset="-78"/>
            </a:endParaRPr>
          </a:p>
        </p:txBody>
      </p:sp>
      <p:sp>
        <p:nvSpPr>
          <p:cNvPr id="12" name="Text 9">
            <a:extLst>
              <a:ext uri="{FF2B5EF4-FFF2-40B4-BE49-F238E27FC236}">
                <a16:creationId xmlns:a16="http://schemas.microsoft.com/office/drawing/2014/main" id="{0B48C98F-C7FA-5E54-2722-770748B750EB}"/>
              </a:ext>
            </a:extLst>
          </p:cNvPr>
          <p:cNvSpPr/>
          <p:nvPr/>
        </p:nvSpPr>
        <p:spPr>
          <a:xfrm>
            <a:off x="13638252" y="5120640"/>
            <a:ext cx="198358" cy="258008"/>
          </a:xfrm>
          <a:prstGeom prst="rect">
            <a:avLst/>
          </a:prstGeom>
          <a:noFill/>
          <a:ln/>
        </p:spPr>
        <p:txBody>
          <a:bodyPr wrap="none" lIns="0" tIns="0" rIns="0" bIns="0" rtlCol="0" anchor="t"/>
          <a:lstStyle/>
          <a:p>
            <a:pPr marL="0" indent="0" algn="l" rtl="1">
              <a:lnSpc>
                <a:spcPts val="2000"/>
              </a:lnSpc>
              <a:buNone/>
            </a:pPr>
            <a:r>
              <a:rPr lang="en-US" sz="1550" dirty="0">
                <a:solidFill>
                  <a:srgbClr val="67534F"/>
                </a:solidFill>
                <a:latin typeface="Marcellus Light" pitchFamily="34" charset="0"/>
                <a:ea typeface="Marcellus Light" pitchFamily="34" charset="-122"/>
                <a:cs typeface="Marcellus Light" pitchFamily="34" charset="-120"/>
              </a:rPr>
              <a:t>03</a:t>
            </a:r>
            <a:endParaRPr lang="en-US" sz="1550" dirty="0"/>
          </a:p>
        </p:txBody>
      </p:sp>
      <p:sp>
        <p:nvSpPr>
          <p:cNvPr id="13" name="Shape 10">
            <a:extLst>
              <a:ext uri="{FF2B5EF4-FFF2-40B4-BE49-F238E27FC236}">
                <a16:creationId xmlns:a16="http://schemas.microsoft.com/office/drawing/2014/main" id="{89D36F56-C717-0F17-1B3A-4A4B58333C97}"/>
              </a:ext>
            </a:extLst>
          </p:cNvPr>
          <p:cNvSpPr/>
          <p:nvPr/>
        </p:nvSpPr>
        <p:spPr>
          <a:xfrm>
            <a:off x="6280190" y="5444966"/>
            <a:ext cx="7556421" cy="22860"/>
          </a:xfrm>
          <a:prstGeom prst="rect">
            <a:avLst/>
          </a:prstGeom>
          <a:solidFill>
            <a:srgbClr val="FF954F"/>
          </a:solidFill>
          <a:ln/>
        </p:spPr>
      </p:sp>
      <p:sp>
        <p:nvSpPr>
          <p:cNvPr id="14" name="Text 11">
            <a:extLst>
              <a:ext uri="{FF2B5EF4-FFF2-40B4-BE49-F238E27FC236}">
                <a16:creationId xmlns:a16="http://schemas.microsoft.com/office/drawing/2014/main" id="{C42864E1-2AF7-8471-CE4B-47A5D66DBFCB}"/>
              </a:ext>
            </a:extLst>
          </p:cNvPr>
          <p:cNvSpPr/>
          <p:nvPr/>
        </p:nvSpPr>
        <p:spPr>
          <a:xfrm>
            <a:off x="10983635" y="5589865"/>
            <a:ext cx="2852976" cy="370761"/>
          </a:xfrm>
          <a:prstGeom prst="rect">
            <a:avLst/>
          </a:prstGeom>
          <a:noFill/>
          <a:ln/>
        </p:spPr>
        <p:txBody>
          <a:bodyPr wrap="none" lIns="0" tIns="0" rIns="0" bIns="0" rtlCol="0" anchor="t"/>
          <a:lstStyle/>
          <a:p>
            <a:pPr marL="0" indent="0" algn="r" rtl="1">
              <a:lnSpc>
                <a:spcPts val="2900"/>
              </a:lnSpc>
              <a:buNone/>
            </a:pPr>
            <a:r>
              <a:rPr lang="en-US" sz="2200" dirty="0">
                <a:solidFill>
                  <a:srgbClr val="67534F"/>
                </a:solidFill>
                <a:latin typeface="Marcellus" pitchFamily="34" charset="0"/>
                <a:ea typeface="Marcellus" pitchFamily="34" charset="-122"/>
                <a:cs typeface="Marcellus" pitchFamily="34" charset="-120"/>
              </a:rPr>
              <a:t>التفرعات المتتالية</a:t>
            </a:r>
            <a:endParaRPr lang="en-US" sz="2200" dirty="0"/>
          </a:p>
        </p:txBody>
      </p:sp>
      <p:sp>
        <p:nvSpPr>
          <p:cNvPr id="15" name="Text 12">
            <a:extLst>
              <a:ext uri="{FF2B5EF4-FFF2-40B4-BE49-F238E27FC236}">
                <a16:creationId xmlns:a16="http://schemas.microsoft.com/office/drawing/2014/main" id="{225A2BCF-E69F-330C-765E-C012ECAD12C0}"/>
              </a:ext>
            </a:extLst>
          </p:cNvPr>
          <p:cNvSpPr/>
          <p:nvPr/>
        </p:nvSpPr>
        <p:spPr>
          <a:xfrm>
            <a:off x="6280190" y="6079688"/>
            <a:ext cx="7556421" cy="516017"/>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تستمر القصبات في التفرع إلى قصبات فرعية أصغر، ثم إلى قصيبات، وأخيراً إلى قصيبات نهائية، وكلما صغر قطر هذه القصيبات، زادت كمية الأكياس الهوائية في نهايتها.</a:t>
            </a:r>
            <a:endParaRPr lang="en-US" sz="1550" dirty="0">
              <a:latin typeface="Vazirmatn ExtraBold" pitchFamily="2" charset="-78"/>
              <a:cs typeface="Vazirmatn ExtraBold" pitchFamily="2" charset="-78"/>
            </a:endParaRPr>
          </a:p>
        </p:txBody>
      </p:sp>
    </p:spTree>
    <p:extLst>
      <p:ext uri="{BB962C8B-B14F-4D97-AF65-F5344CB8AC3E}">
        <p14:creationId xmlns:p14="http://schemas.microsoft.com/office/powerpoint/2010/main" val="844701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CF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B81FF16-474E-3B2D-DDDE-C06DFF9C46A2}"/>
              </a:ext>
            </a:extLst>
          </p:cNvPr>
          <p:cNvSpPr/>
          <p:nvPr/>
        </p:nvSpPr>
        <p:spPr>
          <a:xfrm>
            <a:off x="7608808" y="722590"/>
            <a:ext cx="6227802" cy="741759"/>
          </a:xfrm>
          <a:prstGeom prst="rect">
            <a:avLst/>
          </a:prstGeom>
          <a:noFill/>
          <a:ln/>
        </p:spPr>
        <p:txBody>
          <a:bodyPr wrap="none" lIns="0" tIns="0" rIns="0" bIns="0" rtlCol="0" anchor="t"/>
          <a:lstStyle/>
          <a:p>
            <a:pPr marL="0" indent="0" algn="r" rtl="1">
              <a:lnSpc>
                <a:spcPts val="5800"/>
              </a:lnSpc>
              <a:buNone/>
            </a:pPr>
            <a:r>
              <a:rPr lang="en-US" sz="4450" dirty="0">
                <a:solidFill>
                  <a:srgbClr val="532418"/>
                </a:solidFill>
                <a:latin typeface="Marcellus" pitchFamily="34" charset="0"/>
                <a:ea typeface="Marcellus" pitchFamily="34" charset="-122"/>
                <a:cs typeface="Marcellus" pitchFamily="34" charset="-120"/>
              </a:rPr>
              <a:t>الرئتان ووحدة التبادل الغازي</a:t>
            </a:r>
            <a:endParaRPr lang="en-US" sz="4450" dirty="0"/>
          </a:p>
        </p:txBody>
      </p:sp>
      <p:sp>
        <p:nvSpPr>
          <p:cNvPr id="3" name="Text 1">
            <a:extLst>
              <a:ext uri="{FF2B5EF4-FFF2-40B4-BE49-F238E27FC236}">
                <a16:creationId xmlns:a16="http://schemas.microsoft.com/office/drawing/2014/main" id="{F5033007-93BC-AC12-B56E-BFC1D3BC7A67}"/>
              </a:ext>
            </a:extLst>
          </p:cNvPr>
          <p:cNvSpPr/>
          <p:nvPr/>
        </p:nvSpPr>
        <p:spPr>
          <a:xfrm>
            <a:off x="5002173" y="1960364"/>
            <a:ext cx="3423642" cy="445056"/>
          </a:xfrm>
          <a:prstGeom prst="rect">
            <a:avLst/>
          </a:prstGeom>
          <a:noFill/>
          <a:ln/>
        </p:spPr>
        <p:txBody>
          <a:bodyPr wrap="none" lIns="0" tIns="0" rIns="0" bIns="0" rtlCol="0" anchor="t"/>
          <a:lstStyle/>
          <a:p>
            <a:pPr marL="0" indent="0" algn="r" rtl="1">
              <a:lnSpc>
                <a:spcPts val="3500"/>
              </a:lnSpc>
              <a:buNone/>
            </a:pPr>
            <a:r>
              <a:rPr lang="en-US" sz="2650" dirty="0">
                <a:solidFill>
                  <a:srgbClr val="532418"/>
                </a:solidFill>
                <a:latin typeface="Marcellus" pitchFamily="34" charset="0"/>
                <a:ea typeface="Marcellus" pitchFamily="34" charset="-122"/>
                <a:cs typeface="Marcellus" pitchFamily="34" charset="-120"/>
              </a:rPr>
              <a:t>الرئتان</a:t>
            </a:r>
            <a:endParaRPr lang="en-US" sz="2650" dirty="0"/>
          </a:p>
        </p:txBody>
      </p:sp>
      <p:sp>
        <p:nvSpPr>
          <p:cNvPr id="4" name="Text 2">
            <a:extLst>
              <a:ext uri="{FF2B5EF4-FFF2-40B4-BE49-F238E27FC236}">
                <a16:creationId xmlns:a16="http://schemas.microsoft.com/office/drawing/2014/main" id="{22E53EBF-D2BF-EE05-068F-379D4D2D6504}"/>
              </a:ext>
            </a:extLst>
          </p:cNvPr>
          <p:cNvSpPr/>
          <p:nvPr/>
        </p:nvSpPr>
        <p:spPr>
          <a:xfrm>
            <a:off x="793790" y="2603778"/>
            <a:ext cx="7632025" cy="516017"/>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الرئتان هما العضوان الرئيسيان للتنفس، ويشغلان معظم تجويف الصدر. كل رئة محاطة بغشاء رقيق يسمى غشاء الجنبة، والذي يحتوي على سائل يقلل الاحتكاك أثناء التنفس.</a:t>
            </a:r>
            <a:endParaRPr lang="en-US" sz="1550" dirty="0">
              <a:latin typeface="Vazirmatn ExtraBold" pitchFamily="2" charset="-78"/>
              <a:cs typeface="Vazirmatn ExtraBold" pitchFamily="2" charset="-78"/>
            </a:endParaRPr>
          </a:p>
        </p:txBody>
      </p:sp>
      <p:sp>
        <p:nvSpPr>
          <p:cNvPr id="5" name="Text 3">
            <a:extLst>
              <a:ext uri="{FF2B5EF4-FFF2-40B4-BE49-F238E27FC236}">
                <a16:creationId xmlns:a16="http://schemas.microsoft.com/office/drawing/2014/main" id="{1C279D81-B33D-CEF2-94B2-E9465718E00C}"/>
              </a:ext>
            </a:extLst>
          </p:cNvPr>
          <p:cNvSpPr/>
          <p:nvPr/>
        </p:nvSpPr>
        <p:spPr>
          <a:xfrm>
            <a:off x="793790" y="3298388"/>
            <a:ext cx="7632025" cy="516017"/>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الرئة اليمنى أكبر قليلاً من اليسرى وتنقسم إلى ثلاثة فصوص، بينما تنقسم اليسرى إلى فصين فقط لتوفر مساحة للقلب.</a:t>
            </a:r>
            <a:endParaRPr lang="en-US" sz="1550" dirty="0">
              <a:latin typeface="Vazirmatn ExtraBold" pitchFamily="2" charset="-78"/>
              <a:cs typeface="Vazirmatn ExtraBold" pitchFamily="2" charset="-78"/>
            </a:endParaRPr>
          </a:p>
        </p:txBody>
      </p:sp>
      <p:pic>
        <p:nvPicPr>
          <p:cNvPr id="6" name="Image 0" descr="preencoded.png">
            <a:extLst>
              <a:ext uri="{FF2B5EF4-FFF2-40B4-BE49-F238E27FC236}">
                <a16:creationId xmlns:a16="http://schemas.microsoft.com/office/drawing/2014/main" id="{039139D7-2C57-674D-D2EB-975D0E28A2D9}"/>
              </a:ext>
            </a:extLst>
          </p:cNvPr>
          <p:cNvPicPr>
            <a:picLocks noChangeAspect="1"/>
          </p:cNvPicPr>
          <p:nvPr/>
        </p:nvPicPr>
        <p:blipFill>
          <a:blip r:embed="rId2"/>
          <a:stretch>
            <a:fillRect/>
          </a:stretch>
        </p:blipFill>
        <p:spPr>
          <a:xfrm>
            <a:off x="8917543" y="1985248"/>
            <a:ext cx="4926568" cy="2906078"/>
          </a:xfrm>
          <a:prstGeom prst="rect">
            <a:avLst/>
          </a:prstGeom>
        </p:spPr>
      </p:pic>
      <p:sp>
        <p:nvSpPr>
          <p:cNvPr id="7" name="Shape 4">
            <a:extLst>
              <a:ext uri="{FF2B5EF4-FFF2-40B4-BE49-F238E27FC236}">
                <a16:creationId xmlns:a16="http://schemas.microsoft.com/office/drawing/2014/main" id="{7E204E0F-ACD9-D1B8-4DFC-7AB19B6483E4}"/>
              </a:ext>
            </a:extLst>
          </p:cNvPr>
          <p:cNvSpPr/>
          <p:nvPr/>
        </p:nvSpPr>
        <p:spPr>
          <a:xfrm>
            <a:off x="793790" y="5436958"/>
            <a:ext cx="13042821" cy="32385"/>
          </a:xfrm>
          <a:prstGeom prst="rect">
            <a:avLst/>
          </a:prstGeom>
          <a:solidFill>
            <a:srgbClr val="67534F">
              <a:alpha val="50000"/>
            </a:srgbClr>
          </a:solidFill>
          <a:ln/>
        </p:spPr>
      </p:sp>
      <p:sp>
        <p:nvSpPr>
          <p:cNvPr id="8" name="Text 5">
            <a:extLst>
              <a:ext uri="{FF2B5EF4-FFF2-40B4-BE49-F238E27FC236}">
                <a16:creationId xmlns:a16="http://schemas.microsoft.com/office/drawing/2014/main" id="{5607443C-536A-CFA3-65BC-776D512BD6A9}"/>
              </a:ext>
            </a:extLst>
          </p:cNvPr>
          <p:cNvSpPr/>
          <p:nvPr/>
        </p:nvSpPr>
        <p:spPr>
          <a:xfrm>
            <a:off x="10412968" y="5766911"/>
            <a:ext cx="3423642" cy="445056"/>
          </a:xfrm>
          <a:prstGeom prst="rect">
            <a:avLst/>
          </a:prstGeom>
          <a:noFill/>
          <a:ln/>
        </p:spPr>
        <p:txBody>
          <a:bodyPr wrap="none" lIns="0" tIns="0" rIns="0" bIns="0" rtlCol="0" anchor="t"/>
          <a:lstStyle/>
          <a:p>
            <a:pPr marL="0" indent="0" algn="r" rtl="1">
              <a:lnSpc>
                <a:spcPts val="3500"/>
              </a:lnSpc>
              <a:buNone/>
            </a:pPr>
            <a:r>
              <a:rPr lang="en-US" sz="2650" dirty="0">
                <a:solidFill>
                  <a:srgbClr val="532418"/>
                </a:solidFill>
                <a:latin typeface="Marcellus" pitchFamily="34" charset="0"/>
                <a:ea typeface="Marcellus" pitchFamily="34" charset="-122"/>
                <a:cs typeface="Marcellus" pitchFamily="34" charset="-120"/>
              </a:rPr>
              <a:t>الأسناخ الرئوية (Alveoli)</a:t>
            </a:r>
            <a:endParaRPr lang="en-US" sz="2650" dirty="0"/>
          </a:p>
        </p:txBody>
      </p:sp>
      <p:sp>
        <p:nvSpPr>
          <p:cNvPr id="9" name="Text 6">
            <a:extLst>
              <a:ext uri="{FF2B5EF4-FFF2-40B4-BE49-F238E27FC236}">
                <a16:creationId xmlns:a16="http://schemas.microsoft.com/office/drawing/2014/main" id="{14110EE4-101D-4B02-ACAD-98905CDB944E}"/>
              </a:ext>
            </a:extLst>
          </p:cNvPr>
          <p:cNvSpPr/>
          <p:nvPr/>
        </p:nvSpPr>
        <p:spPr>
          <a:xfrm>
            <a:off x="793790" y="6509623"/>
            <a:ext cx="13042821" cy="516017"/>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الأسناخ الرئوية هي وحدات التبادل الغازي الأساسية في الرئتين. وهي عبارة عن ملايين الأكياس الصغيرة جداً (حوالي 300-500 مليون في كل رئة) حيث يحدث تبادل الأكسجين مع الدم وثاني أكسيد الكربون.</a:t>
            </a:r>
            <a:endParaRPr lang="en-US" sz="1550" dirty="0">
              <a:latin typeface="Vazirmatn ExtraBold" pitchFamily="2" charset="-78"/>
              <a:cs typeface="Vazirmatn ExtraBold" pitchFamily="2" charset="-78"/>
            </a:endParaRPr>
          </a:p>
        </p:txBody>
      </p:sp>
      <p:sp>
        <p:nvSpPr>
          <p:cNvPr id="10" name="Text 7">
            <a:extLst>
              <a:ext uri="{FF2B5EF4-FFF2-40B4-BE49-F238E27FC236}">
                <a16:creationId xmlns:a16="http://schemas.microsoft.com/office/drawing/2014/main" id="{D73A3281-211E-1321-5718-F6D1AB232A99}"/>
              </a:ext>
            </a:extLst>
          </p:cNvPr>
          <p:cNvSpPr/>
          <p:nvPr/>
        </p:nvSpPr>
        <p:spPr>
          <a:xfrm>
            <a:off x="793790" y="7248882"/>
            <a:ext cx="13042821" cy="258008"/>
          </a:xfrm>
          <a:prstGeom prst="rect">
            <a:avLst/>
          </a:prstGeom>
          <a:noFill/>
          <a:ln/>
        </p:spPr>
        <p:txBody>
          <a:bodyPr wrap="non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جدران الأسناخ رقيقة جداً ومحيطة بشبكة كثيفة من الشعيرات الدموية، مما يسمح بمرور الأكسجين إلى الدم وثاني أكسيد الكربون من الدم إلى الأسناخ بسهولة وفعالية.</a:t>
            </a:r>
            <a:endParaRPr lang="en-US" sz="1550" dirty="0">
              <a:latin typeface="Vazirmatn ExtraBold" pitchFamily="2" charset="-78"/>
              <a:cs typeface="Vazirmatn ExtraBold" pitchFamily="2" charset="-78"/>
            </a:endParaRPr>
          </a:p>
        </p:txBody>
      </p:sp>
    </p:spTree>
    <p:extLst>
      <p:ext uri="{BB962C8B-B14F-4D97-AF65-F5344CB8AC3E}">
        <p14:creationId xmlns:p14="http://schemas.microsoft.com/office/powerpoint/2010/main" val="2246676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CF1"/>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702CFB5-FAC7-95F9-4A4D-93FECE3B5997}"/>
              </a:ext>
            </a:extLst>
          </p:cNvPr>
          <p:cNvPicPr>
            <a:picLocks noChangeAspect="1"/>
          </p:cNvPicPr>
          <p:nvPr/>
        </p:nvPicPr>
        <p:blipFill>
          <a:blip r:embed="rId2"/>
          <a:stretch>
            <a:fillRect/>
          </a:stretch>
        </p:blipFill>
        <p:spPr>
          <a:xfrm>
            <a:off x="0" y="0"/>
            <a:ext cx="14630400" cy="2604849"/>
          </a:xfrm>
          <a:prstGeom prst="rect">
            <a:avLst/>
          </a:prstGeom>
        </p:spPr>
      </p:pic>
      <p:sp>
        <p:nvSpPr>
          <p:cNvPr id="3" name="Text 0">
            <a:extLst>
              <a:ext uri="{FF2B5EF4-FFF2-40B4-BE49-F238E27FC236}">
                <a16:creationId xmlns:a16="http://schemas.microsoft.com/office/drawing/2014/main" id="{5439CBB5-7C53-3775-53D4-7F72D03385A9}"/>
              </a:ext>
            </a:extLst>
          </p:cNvPr>
          <p:cNvSpPr/>
          <p:nvPr/>
        </p:nvSpPr>
        <p:spPr>
          <a:xfrm>
            <a:off x="8130540" y="3192304"/>
            <a:ext cx="5706070" cy="741759"/>
          </a:xfrm>
          <a:prstGeom prst="rect">
            <a:avLst/>
          </a:prstGeom>
          <a:noFill/>
          <a:ln/>
        </p:spPr>
        <p:txBody>
          <a:bodyPr wrap="none" lIns="0" tIns="0" rIns="0" bIns="0" rtlCol="0" anchor="t"/>
          <a:lstStyle/>
          <a:p>
            <a:pPr marL="0" indent="0" algn="r" rtl="1">
              <a:lnSpc>
                <a:spcPts val="5800"/>
              </a:lnSpc>
              <a:buNone/>
            </a:pPr>
            <a:r>
              <a:rPr lang="en-US" sz="4450" dirty="0">
                <a:solidFill>
                  <a:srgbClr val="532418"/>
                </a:solidFill>
                <a:latin typeface="Marcellus" pitchFamily="34" charset="0"/>
                <a:ea typeface="Marcellus" pitchFamily="34" charset="-122"/>
                <a:cs typeface="Marcellus" pitchFamily="34" charset="-120"/>
              </a:rPr>
              <a:t>كيف يتم التنفس؟</a:t>
            </a:r>
            <a:endParaRPr lang="en-US" sz="4450" dirty="0"/>
          </a:p>
        </p:txBody>
      </p:sp>
      <p:sp>
        <p:nvSpPr>
          <p:cNvPr id="4" name="Text 1">
            <a:extLst>
              <a:ext uri="{FF2B5EF4-FFF2-40B4-BE49-F238E27FC236}">
                <a16:creationId xmlns:a16="http://schemas.microsoft.com/office/drawing/2014/main" id="{EC1264B6-DEA7-44CA-5B66-7CEE52E38F53}"/>
              </a:ext>
            </a:extLst>
          </p:cNvPr>
          <p:cNvSpPr/>
          <p:nvPr/>
        </p:nvSpPr>
        <p:spPr>
          <a:xfrm>
            <a:off x="793790" y="4231719"/>
            <a:ext cx="13042821" cy="258008"/>
          </a:xfrm>
          <a:prstGeom prst="rect">
            <a:avLst/>
          </a:prstGeom>
          <a:noFill/>
          <a:ln/>
        </p:spPr>
        <p:txBody>
          <a:bodyPr wrap="non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التنفس عملية آلية معقدة تحدث تلقائياً وبدون تفكير، وتعتمد على تآزر العضلات والعظام والأعضاء المختلفة:</a:t>
            </a:r>
            <a:endParaRPr lang="en-US" sz="1550" dirty="0">
              <a:latin typeface="Vazirmatn ExtraBold" pitchFamily="2" charset="-78"/>
              <a:cs typeface="Vazirmatn ExtraBold" pitchFamily="2" charset="-78"/>
            </a:endParaRPr>
          </a:p>
        </p:txBody>
      </p:sp>
      <p:pic>
        <p:nvPicPr>
          <p:cNvPr id="5" name="Image 1" descr="preencoded.png">
            <a:extLst>
              <a:ext uri="{FF2B5EF4-FFF2-40B4-BE49-F238E27FC236}">
                <a16:creationId xmlns:a16="http://schemas.microsoft.com/office/drawing/2014/main" id="{9CE6BCF4-7F7D-D042-40C3-2316CAC69120}"/>
              </a:ext>
            </a:extLst>
          </p:cNvPr>
          <p:cNvPicPr>
            <a:picLocks noChangeAspect="1"/>
          </p:cNvPicPr>
          <p:nvPr/>
        </p:nvPicPr>
        <p:blipFill>
          <a:blip r:embed="rId3"/>
          <a:stretch>
            <a:fillRect/>
          </a:stretch>
        </p:blipFill>
        <p:spPr>
          <a:xfrm>
            <a:off x="12844343" y="4712970"/>
            <a:ext cx="992267" cy="1402556"/>
          </a:xfrm>
          <a:prstGeom prst="rect">
            <a:avLst/>
          </a:prstGeom>
        </p:spPr>
      </p:pic>
      <p:sp>
        <p:nvSpPr>
          <p:cNvPr id="6" name="Text 2">
            <a:extLst>
              <a:ext uri="{FF2B5EF4-FFF2-40B4-BE49-F238E27FC236}">
                <a16:creationId xmlns:a16="http://schemas.microsoft.com/office/drawing/2014/main" id="{3ED5CF58-89E0-E8AF-3956-AEBFDE2C7604}"/>
              </a:ext>
            </a:extLst>
          </p:cNvPr>
          <p:cNvSpPr/>
          <p:nvPr/>
        </p:nvSpPr>
        <p:spPr>
          <a:xfrm>
            <a:off x="9793010" y="4911328"/>
            <a:ext cx="2852976" cy="370761"/>
          </a:xfrm>
          <a:prstGeom prst="rect">
            <a:avLst/>
          </a:prstGeom>
          <a:noFill/>
          <a:ln/>
        </p:spPr>
        <p:txBody>
          <a:bodyPr wrap="none" lIns="0" tIns="0" rIns="0" bIns="0" rtlCol="0" anchor="t"/>
          <a:lstStyle/>
          <a:p>
            <a:pPr marL="0" indent="0" algn="r" rtl="1">
              <a:lnSpc>
                <a:spcPts val="2900"/>
              </a:lnSpc>
              <a:buNone/>
            </a:pPr>
            <a:r>
              <a:rPr lang="en-US" sz="2200" dirty="0">
                <a:solidFill>
                  <a:srgbClr val="67534F"/>
                </a:solidFill>
                <a:latin typeface="Marcellus" pitchFamily="34" charset="0"/>
                <a:ea typeface="Marcellus" pitchFamily="34" charset="-122"/>
                <a:cs typeface="Marcellus" pitchFamily="34" charset="-120"/>
              </a:rPr>
              <a:t>الشهيق (Inhalation)</a:t>
            </a:r>
            <a:endParaRPr lang="en-US" sz="2200" dirty="0"/>
          </a:p>
        </p:txBody>
      </p:sp>
      <p:sp>
        <p:nvSpPr>
          <p:cNvPr id="7" name="Text 3">
            <a:extLst>
              <a:ext uri="{FF2B5EF4-FFF2-40B4-BE49-F238E27FC236}">
                <a16:creationId xmlns:a16="http://schemas.microsoft.com/office/drawing/2014/main" id="{3E513690-2F8E-A830-D13D-F97C3D4F7E56}"/>
              </a:ext>
            </a:extLst>
          </p:cNvPr>
          <p:cNvSpPr/>
          <p:nvPr/>
        </p:nvSpPr>
        <p:spPr>
          <a:xfrm>
            <a:off x="793790" y="5401151"/>
            <a:ext cx="11852196" cy="516017"/>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دخول الهواء إلى الرئتين يحدث نتيجة انقباض عضلة الحجاب الحاجز وارتخاء عضلات القفص الصدري، مما يزيد حجم التجويف الصدري ويقلل الضغط داخله، فيندفع الهواء من الخارج إلى الداخل.</a:t>
            </a:r>
            <a:endParaRPr lang="en-US" sz="1550" dirty="0">
              <a:latin typeface="Vazirmatn ExtraBold" pitchFamily="2" charset="-78"/>
              <a:cs typeface="Vazirmatn ExtraBold" pitchFamily="2" charset="-78"/>
            </a:endParaRPr>
          </a:p>
        </p:txBody>
      </p:sp>
      <p:pic>
        <p:nvPicPr>
          <p:cNvPr id="8" name="Image 2" descr="preencoded.png">
            <a:extLst>
              <a:ext uri="{FF2B5EF4-FFF2-40B4-BE49-F238E27FC236}">
                <a16:creationId xmlns:a16="http://schemas.microsoft.com/office/drawing/2014/main" id="{3CAE01C8-72D1-C94B-117C-8365DD3CF6AC}"/>
              </a:ext>
            </a:extLst>
          </p:cNvPr>
          <p:cNvPicPr>
            <a:picLocks noChangeAspect="1"/>
          </p:cNvPicPr>
          <p:nvPr/>
        </p:nvPicPr>
        <p:blipFill>
          <a:blip r:embed="rId4"/>
          <a:stretch>
            <a:fillRect/>
          </a:stretch>
        </p:blipFill>
        <p:spPr>
          <a:xfrm>
            <a:off x="12844343" y="6115526"/>
            <a:ext cx="992267" cy="1402556"/>
          </a:xfrm>
          <a:prstGeom prst="rect">
            <a:avLst/>
          </a:prstGeom>
        </p:spPr>
      </p:pic>
      <p:sp>
        <p:nvSpPr>
          <p:cNvPr id="9" name="Text 4">
            <a:extLst>
              <a:ext uri="{FF2B5EF4-FFF2-40B4-BE49-F238E27FC236}">
                <a16:creationId xmlns:a16="http://schemas.microsoft.com/office/drawing/2014/main" id="{0E6A9505-100C-BC3C-95C7-6747A7EB69BD}"/>
              </a:ext>
            </a:extLst>
          </p:cNvPr>
          <p:cNvSpPr/>
          <p:nvPr/>
        </p:nvSpPr>
        <p:spPr>
          <a:xfrm>
            <a:off x="9793010" y="6313884"/>
            <a:ext cx="2852976" cy="370761"/>
          </a:xfrm>
          <a:prstGeom prst="rect">
            <a:avLst/>
          </a:prstGeom>
          <a:noFill/>
          <a:ln/>
        </p:spPr>
        <p:txBody>
          <a:bodyPr wrap="none" lIns="0" tIns="0" rIns="0" bIns="0" rtlCol="0" anchor="t"/>
          <a:lstStyle/>
          <a:p>
            <a:pPr marL="0" indent="0" algn="r" rtl="1">
              <a:lnSpc>
                <a:spcPts val="2900"/>
              </a:lnSpc>
              <a:buNone/>
            </a:pPr>
            <a:r>
              <a:rPr lang="en-US" sz="2200" dirty="0">
                <a:solidFill>
                  <a:srgbClr val="67534F"/>
                </a:solidFill>
                <a:latin typeface="Marcellus" pitchFamily="34" charset="0"/>
                <a:ea typeface="Marcellus" pitchFamily="34" charset="-122"/>
                <a:cs typeface="Marcellus" pitchFamily="34" charset="-120"/>
              </a:rPr>
              <a:t>الزفير (Exhalation)</a:t>
            </a:r>
            <a:endParaRPr lang="en-US" sz="2200" dirty="0"/>
          </a:p>
        </p:txBody>
      </p:sp>
      <p:sp>
        <p:nvSpPr>
          <p:cNvPr id="10" name="Text 5">
            <a:extLst>
              <a:ext uri="{FF2B5EF4-FFF2-40B4-BE49-F238E27FC236}">
                <a16:creationId xmlns:a16="http://schemas.microsoft.com/office/drawing/2014/main" id="{5F010E46-55B8-6620-B717-247122BF85E7}"/>
              </a:ext>
            </a:extLst>
          </p:cNvPr>
          <p:cNvSpPr/>
          <p:nvPr/>
        </p:nvSpPr>
        <p:spPr>
          <a:xfrm>
            <a:off x="793790" y="6803708"/>
            <a:ext cx="11852196" cy="516017"/>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خروج الهواء المحمل بثاني أكسيد الكربون يحدث نتيجة ارتخاء عضلة الحجاب الحاجز وانقباض عضلات القفص الصدري، مما يقلل حجم التجويف الصدري ويزيد الضغط داخله، فيندفع الهواء المحمل بالفضلات خارجاً.</a:t>
            </a:r>
            <a:endParaRPr lang="en-US" sz="1550" dirty="0">
              <a:latin typeface="Vazirmatn ExtraBold" pitchFamily="2" charset="-78"/>
              <a:cs typeface="Vazirmatn ExtraBold" pitchFamily="2" charset="-78"/>
            </a:endParaRPr>
          </a:p>
        </p:txBody>
      </p:sp>
    </p:spTree>
    <p:extLst>
      <p:ext uri="{BB962C8B-B14F-4D97-AF65-F5344CB8AC3E}">
        <p14:creationId xmlns:p14="http://schemas.microsoft.com/office/powerpoint/2010/main" val="2178801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CF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B0A2414-669F-C895-2776-E5B5591B20FE}"/>
              </a:ext>
            </a:extLst>
          </p:cNvPr>
          <p:cNvSpPr/>
          <p:nvPr/>
        </p:nvSpPr>
        <p:spPr>
          <a:xfrm>
            <a:off x="8130540" y="2122289"/>
            <a:ext cx="5706070" cy="741759"/>
          </a:xfrm>
          <a:prstGeom prst="rect">
            <a:avLst/>
          </a:prstGeom>
          <a:noFill/>
          <a:ln/>
        </p:spPr>
        <p:txBody>
          <a:bodyPr wrap="none" lIns="0" tIns="0" rIns="0" bIns="0" rtlCol="0" anchor="t"/>
          <a:lstStyle/>
          <a:p>
            <a:pPr marL="0" indent="0" algn="r" rtl="1">
              <a:lnSpc>
                <a:spcPts val="5800"/>
              </a:lnSpc>
              <a:buNone/>
            </a:pPr>
            <a:r>
              <a:rPr lang="en-US" sz="4450" dirty="0">
                <a:solidFill>
                  <a:srgbClr val="532418"/>
                </a:solidFill>
                <a:latin typeface="Marcellus" pitchFamily="34" charset="0"/>
                <a:ea typeface="Marcellus" pitchFamily="34" charset="-122"/>
                <a:cs typeface="Marcellus" pitchFamily="34" charset="-120"/>
              </a:rPr>
              <a:t>أهمية التنفس في الجسم</a:t>
            </a:r>
            <a:endParaRPr lang="en-US" sz="4450" dirty="0"/>
          </a:p>
        </p:txBody>
      </p:sp>
      <p:sp>
        <p:nvSpPr>
          <p:cNvPr id="3" name="Text 1">
            <a:extLst>
              <a:ext uri="{FF2B5EF4-FFF2-40B4-BE49-F238E27FC236}">
                <a16:creationId xmlns:a16="http://schemas.microsoft.com/office/drawing/2014/main" id="{CA188ADD-C922-5984-291E-846BC832FC42}"/>
              </a:ext>
            </a:extLst>
          </p:cNvPr>
          <p:cNvSpPr/>
          <p:nvPr/>
        </p:nvSpPr>
        <p:spPr>
          <a:xfrm>
            <a:off x="793790" y="3260884"/>
            <a:ext cx="13042821" cy="258008"/>
          </a:xfrm>
          <a:prstGeom prst="rect">
            <a:avLst/>
          </a:prstGeom>
          <a:noFill/>
          <a:ln/>
        </p:spPr>
        <p:txBody>
          <a:bodyPr wrap="non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التنفس ليس مجرد عملية بسيطة لتبادل الهواء، بل هو الأساس لجميع العمليات الحيوية في الجسم:</a:t>
            </a:r>
            <a:endParaRPr lang="en-US" sz="1550" dirty="0">
              <a:latin typeface="Vazirmatn ExtraBold" pitchFamily="2" charset="-78"/>
              <a:cs typeface="Vazirmatn ExtraBold" pitchFamily="2" charset="-78"/>
            </a:endParaRPr>
          </a:p>
        </p:txBody>
      </p:sp>
      <p:pic>
        <p:nvPicPr>
          <p:cNvPr id="4" name="Image 0" descr="preencoded.png">
            <a:extLst>
              <a:ext uri="{FF2B5EF4-FFF2-40B4-BE49-F238E27FC236}">
                <a16:creationId xmlns:a16="http://schemas.microsoft.com/office/drawing/2014/main" id="{BD01744A-930D-37E7-1DD7-367E1E934F1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241298" y="3742134"/>
            <a:ext cx="595313" cy="595313"/>
          </a:xfrm>
          <a:prstGeom prst="rect">
            <a:avLst/>
          </a:prstGeom>
        </p:spPr>
      </p:pic>
      <p:sp>
        <p:nvSpPr>
          <p:cNvPr id="5" name="Text 2">
            <a:extLst>
              <a:ext uri="{FF2B5EF4-FFF2-40B4-BE49-F238E27FC236}">
                <a16:creationId xmlns:a16="http://schemas.microsoft.com/office/drawing/2014/main" id="{B3D4F88B-377F-33E2-86F4-756D5C60DC28}"/>
              </a:ext>
            </a:extLst>
          </p:cNvPr>
          <p:cNvSpPr/>
          <p:nvPr/>
        </p:nvSpPr>
        <p:spPr>
          <a:xfrm>
            <a:off x="10983635" y="4585454"/>
            <a:ext cx="2852976" cy="370761"/>
          </a:xfrm>
          <a:prstGeom prst="rect">
            <a:avLst/>
          </a:prstGeom>
          <a:noFill/>
          <a:ln/>
        </p:spPr>
        <p:txBody>
          <a:bodyPr wrap="none" lIns="0" tIns="0" rIns="0" bIns="0" rtlCol="0" anchor="t"/>
          <a:lstStyle/>
          <a:p>
            <a:pPr marL="0" indent="0" algn="r" rtl="1">
              <a:lnSpc>
                <a:spcPts val="2900"/>
              </a:lnSpc>
              <a:buNone/>
            </a:pPr>
            <a:r>
              <a:rPr lang="en-US" sz="2200" dirty="0">
                <a:solidFill>
                  <a:srgbClr val="67534F"/>
                </a:solidFill>
                <a:latin typeface="Marcellus" pitchFamily="34" charset="0"/>
                <a:ea typeface="Marcellus" pitchFamily="34" charset="-122"/>
                <a:cs typeface="Marcellus" pitchFamily="34" charset="-120"/>
              </a:rPr>
              <a:t>إنتاج الطاقة</a:t>
            </a:r>
            <a:endParaRPr lang="en-US" sz="2200" dirty="0"/>
          </a:p>
        </p:txBody>
      </p:sp>
      <p:sp>
        <p:nvSpPr>
          <p:cNvPr id="6" name="Text 3">
            <a:extLst>
              <a:ext uri="{FF2B5EF4-FFF2-40B4-BE49-F238E27FC236}">
                <a16:creationId xmlns:a16="http://schemas.microsoft.com/office/drawing/2014/main" id="{5DF49EDE-6CC4-FF3C-EDE4-1CB64B6FBF95}"/>
              </a:ext>
            </a:extLst>
          </p:cNvPr>
          <p:cNvSpPr/>
          <p:nvPr/>
        </p:nvSpPr>
        <p:spPr>
          <a:xfrm>
            <a:off x="9654421" y="5075277"/>
            <a:ext cx="4182189" cy="1032034"/>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الأكسجين الذي نحصل عليه من التنفس ضروري لعملية التنفس الخلوي، حيث يتم تحويل السكريات والدهون إلى طاقة كيميائية (ATP) تستخدمها جميع خلايا الجسم لأداء وظائفها الحيوية.</a:t>
            </a:r>
            <a:endParaRPr lang="en-US" sz="1550" dirty="0">
              <a:latin typeface="Vazirmatn ExtraBold" pitchFamily="2" charset="-78"/>
              <a:cs typeface="Vazirmatn ExtraBold" pitchFamily="2" charset="-78"/>
            </a:endParaRPr>
          </a:p>
        </p:txBody>
      </p:sp>
      <p:pic>
        <p:nvPicPr>
          <p:cNvPr id="7" name="Image 1" descr="preencoded.png">
            <a:extLst>
              <a:ext uri="{FF2B5EF4-FFF2-40B4-BE49-F238E27FC236}">
                <a16:creationId xmlns:a16="http://schemas.microsoft.com/office/drawing/2014/main" id="{DF438BD9-1AF3-C0F7-5174-7DE2B91B3A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11101" y="3742134"/>
            <a:ext cx="595313" cy="595313"/>
          </a:xfrm>
          <a:prstGeom prst="rect">
            <a:avLst/>
          </a:prstGeom>
        </p:spPr>
      </p:pic>
      <p:sp>
        <p:nvSpPr>
          <p:cNvPr id="8" name="Text 4">
            <a:extLst>
              <a:ext uri="{FF2B5EF4-FFF2-40B4-BE49-F238E27FC236}">
                <a16:creationId xmlns:a16="http://schemas.microsoft.com/office/drawing/2014/main" id="{211FC710-89BD-57B9-0181-A120085E5C87}"/>
              </a:ext>
            </a:extLst>
          </p:cNvPr>
          <p:cNvSpPr/>
          <p:nvPr/>
        </p:nvSpPr>
        <p:spPr>
          <a:xfrm>
            <a:off x="6553438" y="4585454"/>
            <a:ext cx="2852976" cy="370761"/>
          </a:xfrm>
          <a:prstGeom prst="rect">
            <a:avLst/>
          </a:prstGeom>
          <a:noFill/>
          <a:ln/>
        </p:spPr>
        <p:txBody>
          <a:bodyPr wrap="none" lIns="0" tIns="0" rIns="0" bIns="0" rtlCol="0" anchor="t"/>
          <a:lstStyle/>
          <a:p>
            <a:pPr marL="0" indent="0" algn="r" rtl="1">
              <a:lnSpc>
                <a:spcPts val="2900"/>
              </a:lnSpc>
              <a:buNone/>
            </a:pPr>
            <a:r>
              <a:rPr lang="en-US" sz="2200" dirty="0">
                <a:solidFill>
                  <a:srgbClr val="67534F"/>
                </a:solidFill>
                <a:latin typeface="Marcellus" pitchFamily="34" charset="0"/>
                <a:ea typeface="Marcellus" pitchFamily="34" charset="-122"/>
                <a:cs typeface="Marcellus" pitchFamily="34" charset="-120"/>
              </a:rPr>
              <a:t>تنقية الدم</a:t>
            </a:r>
            <a:endParaRPr lang="en-US" sz="2200" dirty="0"/>
          </a:p>
        </p:txBody>
      </p:sp>
      <p:sp>
        <p:nvSpPr>
          <p:cNvPr id="9" name="Text 5">
            <a:extLst>
              <a:ext uri="{FF2B5EF4-FFF2-40B4-BE49-F238E27FC236}">
                <a16:creationId xmlns:a16="http://schemas.microsoft.com/office/drawing/2014/main" id="{45EE805A-15E5-4F81-6DB4-A66106C45320}"/>
              </a:ext>
            </a:extLst>
          </p:cNvPr>
          <p:cNvSpPr/>
          <p:nvPr/>
        </p:nvSpPr>
        <p:spPr>
          <a:xfrm>
            <a:off x="5224105" y="5075277"/>
            <a:ext cx="4182308" cy="1032034"/>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الجهاز التنفسي يعمل كمرشح طبيعي للدم، حيث يزيل ثاني أكسيد الكربون والنواتج الضارة الأخرى من الدم، ويضمن بقاء توازن الأس الهيدروجيني في الجسم ضمن الحدود الصحية.</a:t>
            </a:r>
            <a:endParaRPr lang="en-US" sz="1550" dirty="0">
              <a:latin typeface="Vazirmatn ExtraBold" pitchFamily="2" charset="-78"/>
              <a:cs typeface="Vazirmatn ExtraBold" pitchFamily="2" charset="-78"/>
            </a:endParaRPr>
          </a:p>
        </p:txBody>
      </p:sp>
      <p:pic>
        <p:nvPicPr>
          <p:cNvPr id="10" name="Image 2" descr="preencoded.png">
            <a:extLst>
              <a:ext uri="{FF2B5EF4-FFF2-40B4-BE49-F238E27FC236}">
                <a16:creationId xmlns:a16="http://schemas.microsoft.com/office/drawing/2014/main" id="{6D589EA2-3F7F-BDAE-8F06-531A617D667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80786" y="3742134"/>
            <a:ext cx="595313" cy="595313"/>
          </a:xfrm>
          <a:prstGeom prst="rect">
            <a:avLst/>
          </a:prstGeom>
        </p:spPr>
      </p:pic>
      <p:sp>
        <p:nvSpPr>
          <p:cNvPr id="11" name="Text 6">
            <a:extLst>
              <a:ext uri="{FF2B5EF4-FFF2-40B4-BE49-F238E27FC236}">
                <a16:creationId xmlns:a16="http://schemas.microsoft.com/office/drawing/2014/main" id="{B16A625B-EBA3-455C-7DA1-53C7F4DB2CD5}"/>
              </a:ext>
            </a:extLst>
          </p:cNvPr>
          <p:cNvSpPr/>
          <p:nvPr/>
        </p:nvSpPr>
        <p:spPr>
          <a:xfrm>
            <a:off x="2123123" y="4585454"/>
            <a:ext cx="2852976" cy="370761"/>
          </a:xfrm>
          <a:prstGeom prst="rect">
            <a:avLst/>
          </a:prstGeom>
          <a:noFill/>
          <a:ln/>
        </p:spPr>
        <p:txBody>
          <a:bodyPr wrap="none" lIns="0" tIns="0" rIns="0" bIns="0" rtlCol="0" anchor="t"/>
          <a:lstStyle/>
          <a:p>
            <a:pPr marL="0" indent="0" algn="r" rtl="1">
              <a:lnSpc>
                <a:spcPts val="2900"/>
              </a:lnSpc>
              <a:buNone/>
            </a:pPr>
            <a:r>
              <a:rPr lang="en-US" sz="2200" dirty="0">
                <a:solidFill>
                  <a:srgbClr val="67534F"/>
                </a:solidFill>
                <a:latin typeface="Marcellus" pitchFamily="34" charset="0"/>
                <a:ea typeface="Marcellus" pitchFamily="34" charset="-122"/>
                <a:cs typeface="Marcellus" pitchFamily="34" charset="-120"/>
              </a:rPr>
              <a:t>صحة الخلايا</a:t>
            </a:r>
            <a:endParaRPr lang="en-US" sz="2200" dirty="0"/>
          </a:p>
        </p:txBody>
      </p:sp>
      <p:sp>
        <p:nvSpPr>
          <p:cNvPr id="12" name="Text 7">
            <a:extLst>
              <a:ext uri="{FF2B5EF4-FFF2-40B4-BE49-F238E27FC236}">
                <a16:creationId xmlns:a16="http://schemas.microsoft.com/office/drawing/2014/main" id="{06592EF4-06EE-1052-434C-76548FE32A75}"/>
              </a:ext>
            </a:extLst>
          </p:cNvPr>
          <p:cNvSpPr/>
          <p:nvPr/>
        </p:nvSpPr>
        <p:spPr>
          <a:xfrm>
            <a:off x="793790" y="5075277"/>
            <a:ext cx="4182308" cy="1032034"/>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إمداد مستمر بالأكسجين يحافظ على صحة وحيوية جميع خلايا الجسم، خاصة خلايا الدماغ والقلب التي تحتاج إلى كميات كبيرة من الأكسجين للحفاظ على وظائفها بشكل طبيعي.</a:t>
            </a:r>
            <a:endParaRPr lang="en-US" sz="1550" dirty="0">
              <a:latin typeface="Vazirmatn ExtraBold" pitchFamily="2" charset="-78"/>
              <a:cs typeface="Vazirmatn ExtraBold" pitchFamily="2" charset="-78"/>
            </a:endParaRPr>
          </a:p>
        </p:txBody>
      </p:sp>
    </p:spTree>
    <p:extLst>
      <p:ext uri="{BB962C8B-B14F-4D97-AF65-F5344CB8AC3E}">
        <p14:creationId xmlns:p14="http://schemas.microsoft.com/office/powerpoint/2010/main" val="2282960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CF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3B03AF3-76F1-1C52-2043-1628B59848EB}"/>
              </a:ext>
            </a:extLst>
          </p:cNvPr>
          <p:cNvSpPr/>
          <p:nvPr/>
        </p:nvSpPr>
        <p:spPr>
          <a:xfrm>
            <a:off x="4128254" y="2064663"/>
            <a:ext cx="9708356" cy="741759"/>
          </a:xfrm>
          <a:prstGeom prst="rect">
            <a:avLst/>
          </a:prstGeom>
          <a:noFill/>
          <a:ln/>
        </p:spPr>
        <p:txBody>
          <a:bodyPr wrap="none" lIns="0" tIns="0" rIns="0" bIns="0" rtlCol="0" anchor="t"/>
          <a:lstStyle/>
          <a:p>
            <a:pPr marL="0" indent="0" algn="r" rtl="1">
              <a:lnSpc>
                <a:spcPts val="5800"/>
              </a:lnSpc>
              <a:buNone/>
            </a:pPr>
            <a:r>
              <a:rPr lang="en-US" sz="4450" dirty="0">
                <a:solidFill>
                  <a:srgbClr val="532418"/>
                </a:solidFill>
                <a:latin typeface="Marcellus" pitchFamily="34" charset="0"/>
                <a:ea typeface="Marcellus" pitchFamily="34" charset="-122"/>
                <a:cs typeface="Marcellus" pitchFamily="34" charset="-120"/>
              </a:rPr>
              <a:t>العوامل التي تؤثر على صحة الجهاز التنفسي</a:t>
            </a:r>
            <a:endParaRPr lang="en-US" sz="4450" dirty="0"/>
          </a:p>
        </p:txBody>
      </p:sp>
      <p:sp>
        <p:nvSpPr>
          <p:cNvPr id="3" name="Text 1">
            <a:extLst>
              <a:ext uri="{FF2B5EF4-FFF2-40B4-BE49-F238E27FC236}">
                <a16:creationId xmlns:a16="http://schemas.microsoft.com/office/drawing/2014/main" id="{422B57E1-7F64-0F3A-DA74-0B4DF873D2CA}"/>
              </a:ext>
            </a:extLst>
          </p:cNvPr>
          <p:cNvSpPr/>
          <p:nvPr/>
        </p:nvSpPr>
        <p:spPr>
          <a:xfrm>
            <a:off x="793790" y="3203258"/>
            <a:ext cx="13042821" cy="258008"/>
          </a:xfrm>
          <a:prstGeom prst="rect">
            <a:avLst/>
          </a:prstGeom>
          <a:noFill/>
          <a:ln/>
        </p:spPr>
        <p:txBody>
          <a:bodyPr wrap="non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يتعرض الجهاز التنفسي لعدة عوامل قد تضر بصحته وتشكل خطراً على وظائفه الحيوية:</a:t>
            </a:r>
            <a:endParaRPr lang="en-US" sz="1550" dirty="0">
              <a:latin typeface="Vazirmatn ExtraBold" pitchFamily="2" charset="-78"/>
              <a:cs typeface="Vazirmatn ExtraBold" pitchFamily="2" charset="-78"/>
            </a:endParaRPr>
          </a:p>
        </p:txBody>
      </p:sp>
      <p:sp>
        <p:nvSpPr>
          <p:cNvPr id="4" name="Shape 2">
            <a:extLst>
              <a:ext uri="{FF2B5EF4-FFF2-40B4-BE49-F238E27FC236}">
                <a16:creationId xmlns:a16="http://schemas.microsoft.com/office/drawing/2014/main" id="{BE97557D-04D3-53E1-71E2-A41667EA30FA}"/>
              </a:ext>
            </a:extLst>
          </p:cNvPr>
          <p:cNvSpPr/>
          <p:nvPr/>
        </p:nvSpPr>
        <p:spPr>
          <a:xfrm>
            <a:off x="9621322" y="3684508"/>
            <a:ext cx="4215289" cy="2480310"/>
          </a:xfrm>
          <a:prstGeom prst="roundRect">
            <a:avLst>
              <a:gd name="adj" fmla="val 4424"/>
            </a:avLst>
          </a:prstGeom>
          <a:solidFill>
            <a:srgbClr val="FFFFF4">
              <a:alpha val="95000"/>
            </a:srgbClr>
          </a:solidFill>
          <a:ln w="22860">
            <a:solidFill>
              <a:srgbClr val="FF954F"/>
            </a:solidFill>
            <a:prstDash val="solid"/>
          </a:ln>
        </p:spPr>
      </p:sp>
      <p:sp>
        <p:nvSpPr>
          <p:cNvPr id="5" name="Shape 3">
            <a:extLst>
              <a:ext uri="{FF2B5EF4-FFF2-40B4-BE49-F238E27FC236}">
                <a16:creationId xmlns:a16="http://schemas.microsoft.com/office/drawing/2014/main" id="{FEF54EB3-D20E-D1A7-4C30-D61E637A09C7}"/>
              </a:ext>
            </a:extLst>
          </p:cNvPr>
          <p:cNvSpPr/>
          <p:nvPr/>
        </p:nvSpPr>
        <p:spPr>
          <a:xfrm>
            <a:off x="13768030" y="3684508"/>
            <a:ext cx="91440" cy="2480310"/>
          </a:xfrm>
          <a:prstGeom prst="roundRect">
            <a:avLst>
              <a:gd name="adj" fmla="val 91163"/>
            </a:avLst>
          </a:prstGeom>
          <a:solidFill>
            <a:srgbClr val="FF954F"/>
          </a:solidFill>
          <a:ln/>
        </p:spPr>
      </p:sp>
      <p:sp>
        <p:nvSpPr>
          <p:cNvPr id="6" name="Text 4">
            <a:extLst>
              <a:ext uri="{FF2B5EF4-FFF2-40B4-BE49-F238E27FC236}">
                <a16:creationId xmlns:a16="http://schemas.microsoft.com/office/drawing/2014/main" id="{6B694467-C2BC-3F33-C526-47B0E0FD49DA}"/>
              </a:ext>
            </a:extLst>
          </p:cNvPr>
          <p:cNvSpPr/>
          <p:nvPr/>
        </p:nvSpPr>
        <p:spPr>
          <a:xfrm>
            <a:off x="10693837" y="3905726"/>
            <a:ext cx="2852976" cy="370761"/>
          </a:xfrm>
          <a:prstGeom prst="rect">
            <a:avLst/>
          </a:prstGeom>
          <a:noFill/>
          <a:ln/>
        </p:spPr>
        <p:txBody>
          <a:bodyPr wrap="none" lIns="0" tIns="0" rIns="0" bIns="0" rtlCol="0" anchor="t"/>
          <a:lstStyle/>
          <a:p>
            <a:pPr marL="0" indent="0" algn="r" rtl="1">
              <a:lnSpc>
                <a:spcPts val="2900"/>
              </a:lnSpc>
              <a:buNone/>
            </a:pPr>
            <a:r>
              <a:rPr lang="en-US" sz="2200" dirty="0">
                <a:solidFill>
                  <a:srgbClr val="67534F"/>
                </a:solidFill>
                <a:latin typeface="Marcellus" pitchFamily="34" charset="0"/>
                <a:ea typeface="Marcellus" pitchFamily="34" charset="-122"/>
                <a:cs typeface="Marcellus" pitchFamily="34" charset="-120"/>
              </a:rPr>
              <a:t>التدخين وتلوث الهواء</a:t>
            </a:r>
            <a:endParaRPr lang="en-US" sz="2200" dirty="0"/>
          </a:p>
        </p:txBody>
      </p:sp>
      <p:sp>
        <p:nvSpPr>
          <p:cNvPr id="7" name="Text 5">
            <a:extLst>
              <a:ext uri="{FF2B5EF4-FFF2-40B4-BE49-F238E27FC236}">
                <a16:creationId xmlns:a16="http://schemas.microsoft.com/office/drawing/2014/main" id="{6A9A7669-3933-82C2-68A6-E1A9EADEB3CF}"/>
              </a:ext>
            </a:extLst>
          </p:cNvPr>
          <p:cNvSpPr/>
          <p:nvPr/>
        </p:nvSpPr>
        <p:spPr>
          <a:xfrm>
            <a:off x="9842540" y="4395549"/>
            <a:ext cx="3704273" cy="1548051"/>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التدخين النشط أو السلبي يسبب تلفاً دائماً في الأسناخ الرئوية ويؤدي إلى أمراض الرئة المزمنة مثل مرض الانسداد الرئوي المزمن (COPD) وسرطان الرئة. كما أن التعرض لتلوث الهواء والمواد الكيميائية يضعف وظائف الرئة على المدى الطويل.</a:t>
            </a:r>
            <a:endParaRPr lang="en-US" sz="1550" dirty="0">
              <a:latin typeface="Vazirmatn ExtraBold" pitchFamily="2" charset="-78"/>
              <a:cs typeface="Vazirmatn ExtraBold" pitchFamily="2" charset="-78"/>
            </a:endParaRPr>
          </a:p>
        </p:txBody>
      </p:sp>
      <p:sp>
        <p:nvSpPr>
          <p:cNvPr id="8" name="Shape 6">
            <a:extLst>
              <a:ext uri="{FF2B5EF4-FFF2-40B4-BE49-F238E27FC236}">
                <a16:creationId xmlns:a16="http://schemas.microsoft.com/office/drawing/2014/main" id="{A02D4E6C-F5BB-EC2F-1E4F-4F2C56C8F3DE}"/>
              </a:ext>
            </a:extLst>
          </p:cNvPr>
          <p:cNvSpPr/>
          <p:nvPr/>
        </p:nvSpPr>
        <p:spPr>
          <a:xfrm>
            <a:off x="5207556" y="3684508"/>
            <a:ext cx="4215408" cy="2480310"/>
          </a:xfrm>
          <a:prstGeom prst="roundRect">
            <a:avLst>
              <a:gd name="adj" fmla="val 4424"/>
            </a:avLst>
          </a:prstGeom>
          <a:solidFill>
            <a:srgbClr val="FFFFF4">
              <a:alpha val="95000"/>
            </a:srgbClr>
          </a:solidFill>
          <a:ln w="22860">
            <a:solidFill>
              <a:srgbClr val="CC5200"/>
            </a:solidFill>
            <a:prstDash val="solid"/>
          </a:ln>
        </p:spPr>
      </p:sp>
      <p:sp>
        <p:nvSpPr>
          <p:cNvPr id="9" name="Shape 7">
            <a:extLst>
              <a:ext uri="{FF2B5EF4-FFF2-40B4-BE49-F238E27FC236}">
                <a16:creationId xmlns:a16="http://schemas.microsoft.com/office/drawing/2014/main" id="{1882728C-D0F7-1DA9-BE4E-04CA38D827EF}"/>
              </a:ext>
            </a:extLst>
          </p:cNvPr>
          <p:cNvSpPr/>
          <p:nvPr/>
        </p:nvSpPr>
        <p:spPr>
          <a:xfrm>
            <a:off x="9354383" y="3684508"/>
            <a:ext cx="91440" cy="2480310"/>
          </a:xfrm>
          <a:prstGeom prst="roundRect">
            <a:avLst>
              <a:gd name="adj" fmla="val 91163"/>
            </a:avLst>
          </a:prstGeom>
          <a:solidFill>
            <a:srgbClr val="CC5200"/>
          </a:solidFill>
          <a:ln/>
        </p:spPr>
      </p:sp>
      <p:sp>
        <p:nvSpPr>
          <p:cNvPr id="10" name="Text 8">
            <a:extLst>
              <a:ext uri="{FF2B5EF4-FFF2-40B4-BE49-F238E27FC236}">
                <a16:creationId xmlns:a16="http://schemas.microsoft.com/office/drawing/2014/main" id="{FCAEA40D-338E-54E7-9FE8-AC1D2D695331}"/>
              </a:ext>
            </a:extLst>
          </p:cNvPr>
          <p:cNvSpPr/>
          <p:nvPr/>
        </p:nvSpPr>
        <p:spPr>
          <a:xfrm>
            <a:off x="6014323" y="3905726"/>
            <a:ext cx="3118842" cy="370761"/>
          </a:xfrm>
          <a:prstGeom prst="rect">
            <a:avLst/>
          </a:prstGeom>
          <a:noFill/>
          <a:ln/>
        </p:spPr>
        <p:txBody>
          <a:bodyPr wrap="none" lIns="0" tIns="0" rIns="0" bIns="0" rtlCol="0" anchor="t"/>
          <a:lstStyle/>
          <a:p>
            <a:pPr marL="0" indent="0" algn="r" rtl="1">
              <a:lnSpc>
                <a:spcPts val="2900"/>
              </a:lnSpc>
              <a:buNone/>
            </a:pPr>
            <a:r>
              <a:rPr lang="en-US" sz="2200" dirty="0">
                <a:solidFill>
                  <a:srgbClr val="67534F"/>
                </a:solidFill>
                <a:latin typeface="Marcellus" pitchFamily="34" charset="0"/>
                <a:ea typeface="Marcellus" pitchFamily="34" charset="-122"/>
                <a:cs typeface="Marcellus" pitchFamily="34" charset="-120"/>
              </a:rPr>
              <a:t>العدوى الفيروسية والبكتيرية</a:t>
            </a:r>
            <a:endParaRPr lang="en-US" sz="2200" dirty="0"/>
          </a:p>
        </p:txBody>
      </p:sp>
      <p:sp>
        <p:nvSpPr>
          <p:cNvPr id="11" name="Text 9">
            <a:extLst>
              <a:ext uri="{FF2B5EF4-FFF2-40B4-BE49-F238E27FC236}">
                <a16:creationId xmlns:a16="http://schemas.microsoft.com/office/drawing/2014/main" id="{F4830D66-1179-1EB8-B09C-54B9DA29BC28}"/>
              </a:ext>
            </a:extLst>
          </p:cNvPr>
          <p:cNvSpPr/>
          <p:nvPr/>
        </p:nvSpPr>
        <p:spPr>
          <a:xfrm>
            <a:off x="5428774" y="4395549"/>
            <a:ext cx="3704392" cy="1290042"/>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نزلات البرد والإنفلونزا والالتهاب الرئوي والسل هي من أكثر الأمراض التي تصيب الجهاز التنفسي. هذه العدوى قد تؤدي إلى مضاعفات خطيرة خاصة لدى كبار السن والأطفال والأشخاص ذوي المناعة الضعيفة.</a:t>
            </a:r>
            <a:endParaRPr lang="en-US" sz="1550" dirty="0">
              <a:latin typeface="Vazirmatn ExtraBold" pitchFamily="2" charset="-78"/>
              <a:cs typeface="Vazirmatn ExtraBold" pitchFamily="2" charset="-78"/>
            </a:endParaRPr>
          </a:p>
        </p:txBody>
      </p:sp>
      <p:sp>
        <p:nvSpPr>
          <p:cNvPr id="12" name="Shape 10">
            <a:extLst>
              <a:ext uri="{FF2B5EF4-FFF2-40B4-BE49-F238E27FC236}">
                <a16:creationId xmlns:a16="http://schemas.microsoft.com/office/drawing/2014/main" id="{21AE5B1A-2159-D887-425C-6158177AAEA1}"/>
              </a:ext>
            </a:extLst>
          </p:cNvPr>
          <p:cNvSpPr/>
          <p:nvPr/>
        </p:nvSpPr>
        <p:spPr>
          <a:xfrm>
            <a:off x="793909" y="3684508"/>
            <a:ext cx="4215289" cy="2480310"/>
          </a:xfrm>
          <a:prstGeom prst="roundRect">
            <a:avLst>
              <a:gd name="adj" fmla="val 4424"/>
            </a:avLst>
          </a:prstGeom>
          <a:solidFill>
            <a:srgbClr val="FFFFF4">
              <a:alpha val="95000"/>
            </a:srgbClr>
          </a:solidFill>
          <a:ln w="22860">
            <a:solidFill>
              <a:srgbClr val="7D3E2C"/>
            </a:solidFill>
            <a:prstDash val="solid"/>
          </a:ln>
        </p:spPr>
      </p:sp>
      <p:sp>
        <p:nvSpPr>
          <p:cNvPr id="13" name="Shape 11">
            <a:extLst>
              <a:ext uri="{FF2B5EF4-FFF2-40B4-BE49-F238E27FC236}">
                <a16:creationId xmlns:a16="http://schemas.microsoft.com/office/drawing/2014/main" id="{79F1EB5B-E102-F27F-0B0C-E771E703C051}"/>
              </a:ext>
            </a:extLst>
          </p:cNvPr>
          <p:cNvSpPr/>
          <p:nvPr/>
        </p:nvSpPr>
        <p:spPr>
          <a:xfrm>
            <a:off x="4940618" y="3684508"/>
            <a:ext cx="91440" cy="2480310"/>
          </a:xfrm>
          <a:prstGeom prst="roundRect">
            <a:avLst>
              <a:gd name="adj" fmla="val 91163"/>
            </a:avLst>
          </a:prstGeom>
          <a:solidFill>
            <a:srgbClr val="7D3E2C"/>
          </a:solidFill>
          <a:ln/>
        </p:spPr>
      </p:sp>
      <p:sp>
        <p:nvSpPr>
          <p:cNvPr id="14" name="Text 12">
            <a:extLst>
              <a:ext uri="{FF2B5EF4-FFF2-40B4-BE49-F238E27FC236}">
                <a16:creationId xmlns:a16="http://schemas.microsoft.com/office/drawing/2014/main" id="{764D951A-FB7D-8D00-6646-D1A1B1551756}"/>
              </a:ext>
            </a:extLst>
          </p:cNvPr>
          <p:cNvSpPr/>
          <p:nvPr/>
        </p:nvSpPr>
        <p:spPr>
          <a:xfrm>
            <a:off x="1866424" y="3905726"/>
            <a:ext cx="2852976" cy="370761"/>
          </a:xfrm>
          <a:prstGeom prst="rect">
            <a:avLst/>
          </a:prstGeom>
          <a:noFill/>
          <a:ln/>
        </p:spPr>
        <p:txBody>
          <a:bodyPr wrap="none" lIns="0" tIns="0" rIns="0" bIns="0" rtlCol="0" anchor="t"/>
          <a:lstStyle/>
          <a:p>
            <a:pPr marL="0" indent="0" algn="r" rtl="1">
              <a:lnSpc>
                <a:spcPts val="2900"/>
              </a:lnSpc>
              <a:buNone/>
            </a:pPr>
            <a:r>
              <a:rPr lang="en-US" sz="2200" dirty="0">
                <a:solidFill>
                  <a:srgbClr val="67534F"/>
                </a:solidFill>
                <a:latin typeface="Marcellus" pitchFamily="34" charset="0"/>
                <a:ea typeface="Marcellus" pitchFamily="34" charset="-122"/>
                <a:cs typeface="Marcellus" pitchFamily="34" charset="-120"/>
              </a:rPr>
              <a:t>الحساسية والربو</a:t>
            </a:r>
            <a:endParaRPr lang="en-US" sz="2200" dirty="0"/>
          </a:p>
        </p:txBody>
      </p:sp>
      <p:sp>
        <p:nvSpPr>
          <p:cNvPr id="15" name="Text 13">
            <a:extLst>
              <a:ext uri="{FF2B5EF4-FFF2-40B4-BE49-F238E27FC236}">
                <a16:creationId xmlns:a16="http://schemas.microsoft.com/office/drawing/2014/main" id="{304099A6-C956-57B2-E414-29614B9BBC80}"/>
              </a:ext>
            </a:extLst>
          </p:cNvPr>
          <p:cNvSpPr/>
          <p:nvPr/>
        </p:nvSpPr>
        <p:spPr>
          <a:xfrm>
            <a:off x="1015127" y="4395549"/>
            <a:ext cx="3704273" cy="1290042"/>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التعرض لعوامل مثيرة للحساسية مثل الغبار وحبوب اللقاح ووبر الحيوانات قد يسبب نوبات ربو وضيق في التنفس. الربو مرض مزمن يسبب تضيق وتورم في القصبات الهوائية، مما يصعب عملية التنفس.</a:t>
            </a:r>
            <a:endParaRPr lang="en-US" sz="1550" dirty="0">
              <a:latin typeface="Vazirmatn ExtraBold" pitchFamily="2" charset="-78"/>
              <a:cs typeface="Vazirmatn ExtraBold" pitchFamily="2" charset="-78"/>
            </a:endParaRPr>
          </a:p>
        </p:txBody>
      </p:sp>
    </p:spTree>
    <p:extLst>
      <p:ext uri="{BB962C8B-B14F-4D97-AF65-F5344CB8AC3E}">
        <p14:creationId xmlns:p14="http://schemas.microsoft.com/office/powerpoint/2010/main" val="3565709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CF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DBD4290-F249-78E0-198B-73CE0C835502}"/>
              </a:ext>
            </a:extLst>
          </p:cNvPr>
          <p:cNvSpPr/>
          <p:nvPr/>
        </p:nvSpPr>
        <p:spPr>
          <a:xfrm>
            <a:off x="5702022" y="545187"/>
            <a:ext cx="8135303" cy="666869"/>
          </a:xfrm>
          <a:prstGeom prst="rect">
            <a:avLst/>
          </a:prstGeom>
          <a:noFill/>
          <a:ln/>
        </p:spPr>
        <p:txBody>
          <a:bodyPr wrap="none" lIns="0" tIns="0" rIns="0" bIns="0" rtlCol="0" anchor="t"/>
          <a:lstStyle/>
          <a:p>
            <a:pPr marL="0" indent="0" algn="r" rtl="1">
              <a:lnSpc>
                <a:spcPts val="5250"/>
              </a:lnSpc>
              <a:buNone/>
            </a:pPr>
            <a:r>
              <a:rPr lang="en-US" sz="4000" dirty="0">
                <a:solidFill>
                  <a:srgbClr val="532418"/>
                </a:solidFill>
                <a:latin typeface="Marcellus" pitchFamily="34" charset="0"/>
                <a:ea typeface="Marcellus" pitchFamily="34" charset="-122"/>
                <a:cs typeface="Marcellus" pitchFamily="34" charset="-120"/>
              </a:rPr>
              <a:t>نصائح للحفاظ على صحة الجهاز التنفسي</a:t>
            </a:r>
            <a:endParaRPr lang="en-US" sz="4000" dirty="0"/>
          </a:p>
        </p:txBody>
      </p:sp>
      <p:sp>
        <p:nvSpPr>
          <p:cNvPr id="3" name="Shape 1">
            <a:extLst>
              <a:ext uri="{FF2B5EF4-FFF2-40B4-BE49-F238E27FC236}">
                <a16:creationId xmlns:a16="http://schemas.microsoft.com/office/drawing/2014/main" id="{0BA3A7D3-6865-2A8D-252E-2167A6EAC83F}"/>
              </a:ext>
            </a:extLst>
          </p:cNvPr>
          <p:cNvSpPr/>
          <p:nvPr/>
        </p:nvSpPr>
        <p:spPr>
          <a:xfrm>
            <a:off x="13480494" y="1800582"/>
            <a:ext cx="178356" cy="802958"/>
          </a:xfrm>
          <a:prstGeom prst="roundRect">
            <a:avLst>
              <a:gd name="adj" fmla="val 42025"/>
            </a:avLst>
          </a:prstGeom>
          <a:solidFill>
            <a:srgbClr val="FFFFF4"/>
          </a:solidFill>
          <a:ln w="15240">
            <a:solidFill>
              <a:srgbClr val="FFE0CC"/>
            </a:solidFill>
            <a:prstDash val="solid"/>
          </a:ln>
        </p:spPr>
      </p:sp>
      <p:sp>
        <p:nvSpPr>
          <p:cNvPr id="4" name="Shape 2">
            <a:extLst>
              <a:ext uri="{FF2B5EF4-FFF2-40B4-BE49-F238E27FC236}">
                <a16:creationId xmlns:a16="http://schemas.microsoft.com/office/drawing/2014/main" id="{AADC9718-5738-50A4-B8AC-4F0CA6C34977}"/>
              </a:ext>
            </a:extLst>
          </p:cNvPr>
          <p:cNvSpPr/>
          <p:nvPr/>
        </p:nvSpPr>
        <p:spPr>
          <a:xfrm>
            <a:off x="13302020" y="1677829"/>
            <a:ext cx="535305" cy="535305"/>
          </a:xfrm>
          <a:prstGeom prst="roundRect">
            <a:avLst>
              <a:gd name="adj" fmla="val 85409"/>
            </a:avLst>
          </a:prstGeom>
          <a:solidFill>
            <a:srgbClr val="FFFFF4"/>
          </a:solidFill>
          <a:ln w="15240">
            <a:solidFill>
              <a:srgbClr val="FFE0CC"/>
            </a:solidFill>
            <a:prstDash val="solid"/>
          </a:ln>
        </p:spPr>
      </p:sp>
      <p:pic>
        <p:nvPicPr>
          <p:cNvPr id="5" name="Image 0" descr="preencoded.png">
            <a:extLst>
              <a:ext uri="{FF2B5EF4-FFF2-40B4-BE49-F238E27FC236}">
                <a16:creationId xmlns:a16="http://schemas.microsoft.com/office/drawing/2014/main" id="{77F01F02-DD77-917D-DA5B-48A8C11057B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435846" y="1811655"/>
            <a:ext cx="267653" cy="267653"/>
          </a:xfrm>
          <a:prstGeom prst="rect">
            <a:avLst/>
          </a:prstGeom>
        </p:spPr>
      </p:pic>
      <p:sp>
        <p:nvSpPr>
          <p:cNvPr id="6" name="Text 3">
            <a:extLst>
              <a:ext uri="{FF2B5EF4-FFF2-40B4-BE49-F238E27FC236}">
                <a16:creationId xmlns:a16="http://schemas.microsoft.com/office/drawing/2014/main" id="{AE048539-FA03-6B6F-CA8E-7BEA62EDE849}"/>
              </a:ext>
            </a:extLst>
          </p:cNvPr>
          <p:cNvSpPr/>
          <p:nvPr/>
        </p:nvSpPr>
        <p:spPr>
          <a:xfrm>
            <a:off x="10576322" y="1711285"/>
            <a:ext cx="2565321" cy="333494"/>
          </a:xfrm>
          <a:prstGeom prst="rect">
            <a:avLst/>
          </a:prstGeom>
          <a:noFill/>
          <a:ln/>
        </p:spPr>
        <p:txBody>
          <a:bodyPr wrap="none" lIns="0" tIns="0" rIns="0" bIns="0" rtlCol="0" anchor="t"/>
          <a:lstStyle/>
          <a:p>
            <a:pPr marL="0" indent="0" algn="r" rtl="1">
              <a:lnSpc>
                <a:spcPts val="2600"/>
              </a:lnSpc>
              <a:buNone/>
            </a:pPr>
            <a:r>
              <a:rPr lang="en-US" sz="2000" dirty="0">
                <a:solidFill>
                  <a:srgbClr val="67534F"/>
                </a:solidFill>
                <a:latin typeface="Marcellus" pitchFamily="34" charset="0"/>
                <a:ea typeface="Marcellus" pitchFamily="34" charset="-122"/>
                <a:cs typeface="Marcellus" pitchFamily="34" charset="-120"/>
              </a:rPr>
              <a:t>تجنب التدخين والدخان</a:t>
            </a:r>
            <a:endParaRPr lang="en-US" sz="2000" dirty="0"/>
          </a:p>
        </p:txBody>
      </p:sp>
      <p:sp>
        <p:nvSpPr>
          <p:cNvPr id="7" name="Text 4">
            <a:extLst>
              <a:ext uri="{FF2B5EF4-FFF2-40B4-BE49-F238E27FC236}">
                <a16:creationId xmlns:a16="http://schemas.microsoft.com/office/drawing/2014/main" id="{A62BFBCB-A59E-943E-2893-713026BA5E36}"/>
              </a:ext>
            </a:extLst>
          </p:cNvPr>
          <p:cNvSpPr/>
          <p:nvPr/>
        </p:nvSpPr>
        <p:spPr>
          <a:xfrm>
            <a:off x="793075" y="2140982"/>
            <a:ext cx="12348567" cy="220266"/>
          </a:xfrm>
          <a:prstGeom prst="rect">
            <a:avLst/>
          </a:prstGeom>
          <a:noFill/>
          <a:ln/>
        </p:spPr>
        <p:txBody>
          <a:bodyPr wrap="none" lIns="0" tIns="0" rIns="0" bIns="0" rtlCol="0" anchor="t"/>
          <a:lstStyle/>
          <a:p>
            <a:pPr marL="0" indent="0" algn="r" rtl="1">
              <a:lnSpc>
                <a:spcPts val="1700"/>
              </a:lnSpc>
              <a:buNone/>
            </a:pPr>
            <a:r>
              <a:rPr lang="en-US" sz="1400" dirty="0">
                <a:solidFill>
                  <a:srgbClr val="67534F"/>
                </a:solidFill>
                <a:latin typeface="Vazirmatn ExtraBold" pitchFamily="2" charset="-78"/>
                <a:ea typeface="Montserrat" pitchFamily="34" charset="-122"/>
                <a:cs typeface="Vazirmatn ExtraBold" pitchFamily="2" charset="-78"/>
              </a:rPr>
              <a:t>الامتناع عن التدخين تماماً والتعرض للتدخين السلبي هو أهم خطوة للحفاظ على صحة الرئتين. إذا كنت مدخناً، اطلب المساعدة للتوقف فوراً.</a:t>
            </a:r>
            <a:endParaRPr lang="en-US" sz="1400" dirty="0">
              <a:latin typeface="Vazirmatn ExtraBold" pitchFamily="2" charset="-78"/>
              <a:cs typeface="Vazirmatn ExtraBold" pitchFamily="2" charset="-78"/>
            </a:endParaRPr>
          </a:p>
        </p:txBody>
      </p:sp>
      <p:sp>
        <p:nvSpPr>
          <p:cNvPr id="8" name="Shape 5">
            <a:extLst>
              <a:ext uri="{FF2B5EF4-FFF2-40B4-BE49-F238E27FC236}">
                <a16:creationId xmlns:a16="http://schemas.microsoft.com/office/drawing/2014/main" id="{575EA4FF-8181-A06A-D367-794B4A643E61}"/>
              </a:ext>
            </a:extLst>
          </p:cNvPr>
          <p:cNvSpPr/>
          <p:nvPr/>
        </p:nvSpPr>
        <p:spPr>
          <a:xfrm>
            <a:off x="13212842" y="3031688"/>
            <a:ext cx="178356" cy="802958"/>
          </a:xfrm>
          <a:prstGeom prst="roundRect">
            <a:avLst>
              <a:gd name="adj" fmla="val 42025"/>
            </a:avLst>
          </a:prstGeom>
          <a:solidFill>
            <a:srgbClr val="FFFFF4"/>
          </a:solidFill>
          <a:ln w="15240">
            <a:solidFill>
              <a:srgbClr val="FFE0CC"/>
            </a:solidFill>
            <a:prstDash val="solid"/>
          </a:ln>
        </p:spPr>
      </p:sp>
      <p:sp>
        <p:nvSpPr>
          <p:cNvPr id="9" name="Shape 6">
            <a:extLst>
              <a:ext uri="{FF2B5EF4-FFF2-40B4-BE49-F238E27FC236}">
                <a16:creationId xmlns:a16="http://schemas.microsoft.com/office/drawing/2014/main" id="{F5D2146E-FDE0-C4A2-793A-160684F01A74}"/>
              </a:ext>
            </a:extLst>
          </p:cNvPr>
          <p:cNvSpPr/>
          <p:nvPr/>
        </p:nvSpPr>
        <p:spPr>
          <a:xfrm>
            <a:off x="13034367" y="2908935"/>
            <a:ext cx="535305" cy="535305"/>
          </a:xfrm>
          <a:prstGeom prst="roundRect">
            <a:avLst>
              <a:gd name="adj" fmla="val 85409"/>
            </a:avLst>
          </a:prstGeom>
          <a:solidFill>
            <a:srgbClr val="FFFFF4"/>
          </a:solidFill>
          <a:ln w="15240">
            <a:solidFill>
              <a:srgbClr val="FFE0CC"/>
            </a:solidFill>
            <a:prstDash val="solid"/>
          </a:ln>
        </p:spPr>
      </p:sp>
      <p:pic>
        <p:nvPicPr>
          <p:cNvPr id="10" name="Image 1" descr="preencoded.png">
            <a:extLst>
              <a:ext uri="{FF2B5EF4-FFF2-40B4-BE49-F238E27FC236}">
                <a16:creationId xmlns:a16="http://schemas.microsoft.com/office/drawing/2014/main" id="{23C4E84C-B64D-EB64-58C6-0013288C393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168193" y="3042761"/>
            <a:ext cx="267653" cy="267653"/>
          </a:xfrm>
          <a:prstGeom prst="rect">
            <a:avLst/>
          </a:prstGeom>
        </p:spPr>
      </p:pic>
      <p:sp>
        <p:nvSpPr>
          <p:cNvPr id="11" name="Text 7">
            <a:extLst>
              <a:ext uri="{FF2B5EF4-FFF2-40B4-BE49-F238E27FC236}">
                <a16:creationId xmlns:a16="http://schemas.microsoft.com/office/drawing/2014/main" id="{81F6EB1F-BE49-EF2C-B4D7-B025C29D99AC}"/>
              </a:ext>
            </a:extLst>
          </p:cNvPr>
          <p:cNvSpPr/>
          <p:nvPr/>
        </p:nvSpPr>
        <p:spPr>
          <a:xfrm>
            <a:off x="10308669" y="2942392"/>
            <a:ext cx="2565321" cy="333494"/>
          </a:xfrm>
          <a:prstGeom prst="rect">
            <a:avLst/>
          </a:prstGeom>
          <a:noFill/>
          <a:ln/>
        </p:spPr>
        <p:txBody>
          <a:bodyPr wrap="none" lIns="0" tIns="0" rIns="0" bIns="0" rtlCol="0" anchor="t"/>
          <a:lstStyle/>
          <a:p>
            <a:pPr marL="0" indent="0" algn="r" rtl="1">
              <a:lnSpc>
                <a:spcPts val="2600"/>
              </a:lnSpc>
              <a:buNone/>
            </a:pPr>
            <a:r>
              <a:rPr lang="en-US" sz="2000" dirty="0">
                <a:solidFill>
                  <a:srgbClr val="67534F"/>
                </a:solidFill>
                <a:latin typeface="Marcellus" pitchFamily="34" charset="0"/>
                <a:ea typeface="Marcellus" pitchFamily="34" charset="-122"/>
                <a:cs typeface="Marcellus" pitchFamily="34" charset="-120"/>
              </a:rPr>
              <a:t>ممارسة الرياضة بانتظام</a:t>
            </a:r>
            <a:endParaRPr lang="en-US" sz="2000" dirty="0"/>
          </a:p>
        </p:txBody>
      </p:sp>
      <p:sp>
        <p:nvSpPr>
          <p:cNvPr id="12" name="Text 8">
            <a:extLst>
              <a:ext uri="{FF2B5EF4-FFF2-40B4-BE49-F238E27FC236}">
                <a16:creationId xmlns:a16="http://schemas.microsoft.com/office/drawing/2014/main" id="{F896BFD7-4361-1A1C-B0E7-D7C5A8346465}"/>
              </a:ext>
            </a:extLst>
          </p:cNvPr>
          <p:cNvSpPr/>
          <p:nvPr/>
        </p:nvSpPr>
        <p:spPr>
          <a:xfrm>
            <a:off x="793075" y="3372088"/>
            <a:ext cx="12080915" cy="220266"/>
          </a:xfrm>
          <a:prstGeom prst="rect">
            <a:avLst/>
          </a:prstGeom>
          <a:noFill/>
          <a:ln/>
        </p:spPr>
        <p:txBody>
          <a:bodyPr wrap="none" lIns="0" tIns="0" rIns="0" bIns="0" rtlCol="0" anchor="t"/>
          <a:lstStyle/>
          <a:p>
            <a:pPr marL="0" indent="0" algn="r" rtl="1">
              <a:lnSpc>
                <a:spcPts val="1700"/>
              </a:lnSpc>
              <a:buNone/>
            </a:pPr>
            <a:r>
              <a:rPr lang="en-US" sz="1400" dirty="0">
                <a:solidFill>
                  <a:srgbClr val="67534F"/>
                </a:solidFill>
                <a:latin typeface="Vazirmatn ExtraBold" pitchFamily="2" charset="-78"/>
                <a:ea typeface="Montserrat" pitchFamily="34" charset="-122"/>
                <a:cs typeface="Vazirmatn ExtraBold" pitchFamily="2" charset="-78"/>
              </a:rPr>
              <a:t>التمارين الرياضية تقوي عضلات التنفس وتحسن كفاءة الرئتين. المشي السريع والسباحة والجري تساعد على زيادة سعة الرئتين وتحسين قدرة الجسم على استخدام الأكسجين.</a:t>
            </a:r>
            <a:endParaRPr lang="en-US" sz="1400" dirty="0">
              <a:latin typeface="Vazirmatn ExtraBold" pitchFamily="2" charset="-78"/>
              <a:cs typeface="Vazirmatn ExtraBold" pitchFamily="2" charset="-78"/>
            </a:endParaRPr>
          </a:p>
        </p:txBody>
      </p:sp>
      <p:sp>
        <p:nvSpPr>
          <p:cNvPr id="13" name="Shape 9">
            <a:extLst>
              <a:ext uri="{FF2B5EF4-FFF2-40B4-BE49-F238E27FC236}">
                <a16:creationId xmlns:a16="http://schemas.microsoft.com/office/drawing/2014/main" id="{E1BC6C88-5A8D-FD7C-C627-C5A302CE52A7}"/>
              </a:ext>
            </a:extLst>
          </p:cNvPr>
          <p:cNvSpPr/>
          <p:nvPr/>
        </p:nvSpPr>
        <p:spPr>
          <a:xfrm>
            <a:off x="12945189" y="4262795"/>
            <a:ext cx="178356" cy="802958"/>
          </a:xfrm>
          <a:prstGeom prst="roundRect">
            <a:avLst>
              <a:gd name="adj" fmla="val 42025"/>
            </a:avLst>
          </a:prstGeom>
          <a:solidFill>
            <a:srgbClr val="FFFFF4"/>
          </a:solidFill>
          <a:ln w="15240">
            <a:solidFill>
              <a:srgbClr val="FFE0CC"/>
            </a:solidFill>
            <a:prstDash val="solid"/>
          </a:ln>
        </p:spPr>
      </p:sp>
      <p:sp>
        <p:nvSpPr>
          <p:cNvPr id="14" name="Shape 10">
            <a:extLst>
              <a:ext uri="{FF2B5EF4-FFF2-40B4-BE49-F238E27FC236}">
                <a16:creationId xmlns:a16="http://schemas.microsoft.com/office/drawing/2014/main" id="{B4D1CA9D-D390-AD65-E668-46FC7BC4BEB2}"/>
              </a:ext>
            </a:extLst>
          </p:cNvPr>
          <p:cNvSpPr/>
          <p:nvPr/>
        </p:nvSpPr>
        <p:spPr>
          <a:xfrm>
            <a:off x="12766715" y="4140041"/>
            <a:ext cx="535305" cy="535305"/>
          </a:xfrm>
          <a:prstGeom prst="roundRect">
            <a:avLst>
              <a:gd name="adj" fmla="val 85409"/>
            </a:avLst>
          </a:prstGeom>
          <a:solidFill>
            <a:srgbClr val="FFFFF4"/>
          </a:solidFill>
          <a:ln w="15240">
            <a:solidFill>
              <a:srgbClr val="FFE0CC"/>
            </a:solidFill>
            <a:prstDash val="solid"/>
          </a:ln>
        </p:spPr>
      </p:sp>
      <p:pic>
        <p:nvPicPr>
          <p:cNvPr id="15" name="Image 2" descr="preencoded.png">
            <a:extLst>
              <a:ext uri="{FF2B5EF4-FFF2-40B4-BE49-F238E27FC236}">
                <a16:creationId xmlns:a16="http://schemas.microsoft.com/office/drawing/2014/main" id="{60B269C3-6A06-7DBC-141F-0CEF96B7A88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900541" y="4273868"/>
            <a:ext cx="267653" cy="267653"/>
          </a:xfrm>
          <a:prstGeom prst="rect">
            <a:avLst/>
          </a:prstGeom>
        </p:spPr>
      </p:pic>
      <p:sp>
        <p:nvSpPr>
          <p:cNvPr id="16" name="Text 11">
            <a:extLst>
              <a:ext uri="{FF2B5EF4-FFF2-40B4-BE49-F238E27FC236}">
                <a16:creationId xmlns:a16="http://schemas.microsoft.com/office/drawing/2014/main" id="{6F2E6ED5-BBC7-75C2-EAD4-10ECCC35544C}"/>
              </a:ext>
            </a:extLst>
          </p:cNvPr>
          <p:cNvSpPr/>
          <p:nvPr/>
        </p:nvSpPr>
        <p:spPr>
          <a:xfrm>
            <a:off x="9601676" y="4173498"/>
            <a:ext cx="3004661" cy="333494"/>
          </a:xfrm>
          <a:prstGeom prst="rect">
            <a:avLst/>
          </a:prstGeom>
          <a:noFill/>
          <a:ln/>
        </p:spPr>
        <p:txBody>
          <a:bodyPr wrap="none" lIns="0" tIns="0" rIns="0" bIns="0" rtlCol="0" anchor="t"/>
          <a:lstStyle/>
          <a:p>
            <a:pPr marL="0" indent="0" algn="r" rtl="1">
              <a:lnSpc>
                <a:spcPts val="2600"/>
              </a:lnSpc>
              <a:buNone/>
            </a:pPr>
            <a:r>
              <a:rPr lang="en-US" sz="2000" dirty="0">
                <a:solidFill>
                  <a:srgbClr val="67534F"/>
                </a:solidFill>
                <a:latin typeface="Marcellus" pitchFamily="34" charset="0"/>
                <a:ea typeface="Marcellus" pitchFamily="34" charset="-122"/>
                <a:cs typeface="Marcellus" pitchFamily="34" charset="-120"/>
              </a:rPr>
              <a:t>الحفاظ على النظافة الشخصية</a:t>
            </a:r>
            <a:endParaRPr lang="en-US" sz="2000" dirty="0"/>
          </a:p>
        </p:txBody>
      </p:sp>
      <p:sp>
        <p:nvSpPr>
          <p:cNvPr id="17" name="Text 12">
            <a:extLst>
              <a:ext uri="{FF2B5EF4-FFF2-40B4-BE49-F238E27FC236}">
                <a16:creationId xmlns:a16="http://schemas.microsoft.com/office/drawing/2014/main" id="{28CBCF35-72DC-B985-9DE1-1C3E9F9F2B3E}"/>
              </a:ext>
            </a:extLst>
          </p:cNvPr>
          <p:cNvSpPr/>
          <p:nvPr/>
        </p:nvSpPr>
        <p:spPr>
          <a:xfrm>
            <a:off x="793075" y="4603194"/>
            <a:ext cx="11813262" cy="220266"/>
          </a:xfrm>
          <a:prstGeom prst="rect">
            <a:avLst/>
          </a:prstGeom>
          <a:noFill/>
          <a:ln/>
        </p:spPr>
        <p:txBody>
          <a:bodyPr wrap="none" lIns="0" tIns="0" rIns="0" bIns="0" rtlCol="0" anchor="t"/>
          <a:lstStyle/>
          <a:p>
            <a:pPr marL="0" indent="0" algn="r" rtl="1">
              <a:lnSpc>
                <a:spcPts val="1700"/>
              </a:lnSpc>
              <a:buNone/>
            </a:pPr>
            <a:r>
              <a:rPr lang="en-US" sz="1400" dirty="0">
                <a:solidFill>
                  <a:srgbClr val="67534F"/>
                </a:solidFill>
                <a:latin typeface="Vazirmatn ExtraBold" pitchFamily="2" charset="-78"/>
                <a:ea typeface="Montserrat" pitchFamily="34" charset="-122"/>
                <a:cs typeface="Vazirmatn ExtraBold" pitchFamily="2" charset="-78"/>
              </a:rPr>
              <a:t>غسل اليدين بانتظام وتنظيف الأنف والفم يقلل من خطر العدوى. تجنب لمس الوجه باليد الملوثة، واستخدم كمامات في الأماكن المزدحمة أو الملوثة.</a:t>
            </a:r>
            <a:endParaRPr lang="en-US" sz="1400" dirty="0">
              <a:latin typeface="Vazirmatn ExtraBold" pitchFamily="2" charset="-78"/>
              <a:cs typeface="Vazirmatn ExtraBold" pitchFamily="2" charset="-78"/>
            </a:endParaRPr>
          </a:p>
        </p:txBody>
      </p:sp>
      <p:sp>
        <p:nvSpPr>
          <p:cNvPr id="18" name="Shape 13">
            <a:extLst>
              <a:ext uri="{FF2B5EF4-FFF2-40B4-BE49-F238E27FC236}">
                <a16:creationId xmlns:a16="http://schemas.microsoft.com/office/drawing/2014/main" id="{B5E12B07-7565-1FB4-8461-D14CA330FB83}"/>
              </a:ext>
            </a:extLst>
          </p:cNvPr>
          <p:cNvSpPr/>
          <p:nvPr/>
        </p:nvSpPr>
        <p:spPr>
          <a:xfrm>
            <a:off x="12677418" y="5493901"/>
            <a:ext cx="178356" cy="802958"/>
          </a:xfrm>
          <a:prstGeom prst="roundRect">
            <a:avLst>
              <a:gd name="adj" fmla="val 42025"/>
            </a:avLst>
          </a:prstGeom>
          <a:solidFill>
            <a:srgbClr val="FFFFF4"/>
          </a:solidFill>
          <a:ln w="15240">
            <a:solidFill>
              <a:srgbClr val="FFE0CC"/>
            </a:solidFill>
            <a:prstDash val="solid"/>
          </a:ln>
        </p:spPr>
      </p:sp>
      <p:sp>
        <p:nvSpPr>
          <p:cNvPr id="19" name="Shape 14">
            <a:extLst>
              <a:ext uri="{FF2B5EF4-FFF2-40B4-BE49-F238E27FC236}">
                <a16:creationId xmlns:a16="http://schemas.microsoft.com/office/drawing/2014/main" id="{C212853C-3A27-25F5-5FCF-7E9E1D54EADE}"/>
              </a:ext>
            </a:extLst>
          </p:cNvPr>
          <p:cNvSpPr/>
          <p:nvPr/>
        </p:nvSpPr>
        <p:spPr>
          <a:xfrm>
            <a:off x="12498943" y="5371148"/>
            <a:ext cx="535305" cy="535305"/>
          </a:xfrm>
          <a:prstGeom prst="roundRect">
            <a:avLst>
              <a:gd name="adj" fmla="val 85409"/>
            </a:avLst>
          </a:prstGeom>
          <a:solidFill>
            <a:srgbClr val="FFFFF4"/>
          </a:solidFill>
          <a:ln w="15240">
            <a:solidFill>
              <a:srgbClr val="FFE0CC"/>
            </a:solidFill>
            <a:prstDash val="solid"/>
          </a:ln>
        </p:spPr>
      </p:sp>
      <p:pic>
        <p:nvPicPr>
          <p:cNvPr id="20" name="Image 3" descr="preencoded.png">
            <a:extLst>
              <a:ext uri="{FF2B5EF4-FFF2-40B4-BE49-F238E27FC236}">
                <a16:creationId xmlns:a16="http://schemas.microsoft.com/office/drawing/2014/main" id="{F6CCEBBC-D988-BDD6-3EDB-825E24E6736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632769" y="5504974"/>
            <a:ext cx="267653" cy="267653"/>
          </a:xfrm>
          <a:prstGeom prst="rect">
            <a:avLst/>
          </a:prstGeom>
        </p:spPr>
      </p:pic>
      <p:sp>
        <p:nvSpPr>
          <p:cNvPr id="21" name="Text 15">
            <a:extLst>
              <a:ext uri="{FF2B5EF4-FFF2-40B4-BE49-F238E27FC236}">
                <a16:creationId xmlns:a16="http://schemas.microsoft.com/office/drawing/2014/main" id="{74CAB3AE-0253-40BF-D298-C073D2AA780F}"/>
              </a:ext>
            </a:extLst>
          </p:cNvPr>
          <p:cNvSpPr/>
          <p:nvPr/>
        </p:nvSpPr>
        <p:spPr>
          <a:xfrm>
            <a:off x="9202103" y="5404604"/>
            <a:ext cx="3136463" cy="333494"/>
          </a:xfrm>
          <a:prstGeom prst="rect">
            <a:avLst/>
          </a:prstGeom>
          <a:noFill/>
          <a:ln/>
        </p:spPr>
        <p:txBody>
          <a:bodyPr wrap="none" lIns="0" tIns="0" rIns="0" bIns="0" rtlCol="0" anchor="t"/>
          <a:lstStyle/>
          <a:p>
            <a:pPr marL="0" indent="0" algn="r" rtl="1">
              <a:lnSpc>
                <a:spcPts val="2600"/>
              </a:lnSpc>
              <a:buNone/>
            </a:pPr>
            <a:r>
              <a:rPr lang="en-US" sz="2000" dirty="0">
                <a:solidFill>
                  <a:srgbClr val="67534F"/>
                </a:solidFill>
                <a:latin typeface="Marcellus" pitchFamily="34" charset="0"/>
                <a:ea typeface="Marcellus" pitchFamily="34" charset="-122"/>
                <a:cs typeface="Marcellus" pitchFamily="34" charset="-120"/>
              </a:rPr>
              <a:t>تجنب الملوثات والتهوية الجيدة</a:t>
            </a:r>
            <a:endParaRPr lang="en-US" sz="2000" dirty="0"/>
          </a:p>
        </p:txBody>
      </p:sp>
      <p:sp>
        <p:nvSpPr>
          <p:cNvPr id="22" name="Text 16">
            <a:extLst>
              <a:ext uri="{FF2B5EF4-FFF2-40B4-BE49-F238E27FC236}">
                <a16:creationId xmlns:a16="http://schemas.microsoft.com/office/drawing/2014/main" id="{86E962A1-861E-5239-82A3-35127ED02BF5}"/>
              </a:ext>
            </a:extLst>
          </p:cNvPr>
          <p:cNvSpPr/>
          <p:nvPr/>
        </p:nvSpPr>
        <p:spPr>
          <a:xfrm>
            <a:off x="793075" y="5834301"/>
            <a:ext cx="11545491" cy="220266"/>
          </a:xfrm>
          <a:prstGeom prst="rect">
            <a:avLst/>
          </a:prstGeom>
          <a:noFill/>
          <a:ln/>
        </p:spPr>
        <p:txBody>
          <a:bodyPr wrap="none" lIns="0" tIns="0" rIns="0" bIns="0" rtlCol="0" anchor="t"/>
          <a:lstStyle/>
          <a:p>
            <a:pPr marL="0" indent="0" algn="r" rtl="1">
              <a:lnSpc>
                <a:spcPts val="1700"/>
              </a:lnSpc>
              <a:buNone/>
            </a:pPr>
            <a:r>
              <a:rPr lang="en-US" sz="1400" dirty="0">
                <a:solidFill>
                  <a:srgbClr val="67534F"/>
                </a:solidFill>
                <a:latin typeface="Vazirmatn ExtraBold" pitchFamily="2" charset="-78"/>
                <a:ea typeface="Montserrat" pitchFamily="34" charset="-122"/>
                <a:cs typeface="Vazirmatn ExtraBold" pitchFamily="2" charset="-78"/>
              </a:rPr>
              <a:t>احرص على التهوية الجيدة للمنازل والمباني، وتجنب التعرض للمواد الكيميائية والغبار. استخدم أجهزة تنقية الهواء إذا لزم الأمر، وابتعد عن المناطق الملوثة.</a:t>
            </a:r>
            <a:endParaRPr lang="en-US" sz="1400" dirty="0">
              <a:latin typeface="Vazirmatn ExtraBold" pitchFamily="2" charset="-78"/>
              <a:cs typeface="Vazirmatn ExtraBold" pitchFamily="2" charset="-78"/>
            </a:endParaRPr>
          </a:p>
        </p:txBody>
      </p:sp>
      <p:sp>
        <p:nvSpPr>
          <p:cNvPr id="23" name="Shape 17">
            <a:extLst>
              <a:ext uri="{FF2B5EF4-FFF2-40B4-BE49-F238E27FC236}">
                <a16:creationId xmlns:a16="http://schemas.microsoft.com/office/drawing/2014/main" id="{FC165AF9-5BEC-D3F1-6B99-343B320B301D}"/>
              </a:ext>
            </a:extLst>
          </p:cNvPr>
          <p:cNvSpPr/>
          <p:nvPr/>
        </p:nvSpPr>
        <p:spPr>
          <a:xfrm>
            <a:off x="12945189" y="6725007"/>
            <a:ext cx="178356" cy="959168"/>
          </a:xfrm>
          <a:prstGeom prst="roundRect">
            <a:avLst>
              <a:gd name="adj" fmla="val 42025"/>
            </a:avLst>
          </a:prstGeom>
          <a:solidFill>
            <a:srgbClr val="FFFFF4"/>
          </a:solidFill>
          <a:ln w="15240">
            <a:solidFill>
              <a:srgbClr val="FFE0CC"/>
            </a:solidFill>
            <a:prstDash val="solid"/>
          </a:ln>
        </p:spPr>
      </p:sp>
      <p:sp>
        <p:nvSpPr>
          <p:cNvPr id="24" name="Shape 18">
            <a:extLst>
              <a:ext uri="{FF2B5EF4-FFF2-40B4-BE49-F238E27FC236}">
                <a16:creationId xmlns:a16="http://schemas.microsoft.com/office/drawing/2014/main" id="{4CDAA37D-A4C0-9B07-4C45-32C9B3C4A931}"/>
              </a:ext>
            </a:extLst>
          </p:cNvPr>
          <p:cNvSpPr/>
          <p:nvPr/>
        </p:nvSpPr>
        <p:spPr>
          <a:xfrm>
            <a:off x="12766715" y="6602254"/>
            <a:ext cx="535305" cy="535305"/>
          </a:xfrm>
          <a:prstGeom prst="roundRect">
            <a:avLst>
              <a:gd name="adj" fmla="val 85409"/>
            </a:avLst>
          </a:prstGeom>
          <a:solidFill>
            <a:srgbClr val="FFFFF4"/>
          </a:solidFill>
          <a:ln w="15240">
            <a:solidFill>
              <a:srgbClr val="FFE0CC"/>
            </a:solidFill>
            <a:prstDash val="solid"/>
          </a:ln>
        </p:spPr>
      </p:sp>
      <p:pic>
        <p:nvPicPr>
          <p:cNvPr id="25" name="Image 4" descr="preencoded.png">
            <a:extLst>
              <a:ext uri="{FF2B5EF4-FFF2-40B4-BE49-F238E27FC236}">
                <a16:creationId xmlns:a16="http://schemas.microsoft.com/office/drawing/2014/main" id="{08F13AEE-CABA-17E5-FD63-57A93D028A0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2900541" y="6736080"/>
            <a:ext cx="267653" cy="267653"/>
          </a:xfrm>
          <a:prstGeom prst="rect">
            <a:avLst/>
          </a:prstGeom>
        </p:spPr>
      </p:pic>
      <p:sp>
        <p:nvSpPr>
          <p:cNvPr id="26" name="Text 19">
            <a:extLst>
              <a:ext uri="{FF2B5EF4-FFF2-40B4-BE49-F238E27FC236}">
                <a16:creationId xmlns:a16="http://schemas.microsoft.com/office/drawing/2014/main" id="{E13A12C7-7C0D-3D51-1A38-C105267A850B}"/>
              </a:ext>
            </a:extLst>
          </p:cNvPr>
          <p:cNvSpPr/>
          <p:nvPr/>
        </p:nvSpPr>
        <p:spPr>
          <a:xfrm>
            <a:off x="10041017" y="6635710"/>
            <a:ext cx="2565321" cy="333494"/>
          </a:xfrm>
          <a:prstGeom prst="rect">
            <a:avLst/>
          </a:prstGeom>
          <a:noFill/>
          <a:ln/>
        </p:spPr>
        <p:txBody>
          <a:bodyPr wrap="none" lIns="0" tIns="0" rIns="0" bIns="0" rtlCol="0" anchor="t"/>
          <a:lstStyle/>
          <a:p>
            <a:pPr marL="0" indent="0" algn="r" rtl="1">
              <a:lnSpc>
                <a:spcPts val="2600"/>
              </a:lnSpc>
              <a:buNone/>
            </a:pPr>
            <a:r>
              <a:rPr lang="en-US" sz="2000" dirty="0">
                <a:solidFill>
                  <a:srgbClr val="67534F"/>
                </a:solidFill>
                <a:latin typeface="Marcellus" pitchFamily="34" charset="0"/>
                <a:ea typeface="Marcellus" pitchFamily="34" charset="-122"/>
                <a:cs typeface="Marcellus" pitchFamily="34" charset="-120"/>
              </a:rPr>
              <a:t>الفحوصات الدورية</a:t>
            </a:r>
            <a:endParaRPr lang="en-US" sz="2000" dirty="0"/>
          </a:p>
        </p:txBody>
      </p:sp>
      <p:sp>
        <p:nvSpPr>
          <p:cNvPr id="27" name="Text 20">
            <a:extLst>
              <a:ext uri="{FF2B5EF4-FFF2-40B4-BE49-F238E27FC236}">
                <a16:creationId xmlns:a16="http://schemas.microsoft.com/office/drawing/2014/main" id="{A790DC64-18C2-E71E-500C-61ABC50D001F}"/>
              </a:ext>
            </a:extLst>
          </p:cNvPr>
          <p:cNvSpPr/>
          <p:nvPr/>
        </p:nvSpPr>
        <p:spPr>
          <a:xfrm>
            <a:off x="793075" y="7065407"/>
            <a:ext cx="11813262" cy="440531"/>
          </a:xfrm>
          <a:prstGeom prst="rect">
            <a:avLst/>
          </a:prstGeom>
          <a:noFill/>
          <a:ln/>
        </p:spPr>
        <p:txBody>
          <a:bodyPr wrap="square" lIns="0" tIns="0" rIns="0" bIns="0" rtlCol="0" anchor="t"/>
          <a:lstStyle/>
          <a:p>
            <a:pPr marL="0" indent="0" algn="r" rtl="1">
              <a:lnSpc>
                <a:spcPts val="1700"/>
              </a:lnSpc>
              <a:buNone/>
            </a:pPr>
            <a:r>
              <a:rPr lang="en-US" sz="1400" dirty="0">
                <a:solidFill>
                  <a:srgbClr val="67534F"/>
                </a:solidFill>
                <a:latin typeface="Vazirmatn ExtraBold" pitchFamily="2" charset="-78"/>
                <a:ea typeface="Montserrat" pitchFamily="34" charset="-122"/>
                <a:cs typeface="Vazirmatn ExtraBold" pitchFamily="2" charset="-78"/>
              </a:rPr>
              <a:t>الزيارات المنتظمة للطبيب والفحوصات الدورية تساعد على اكتشاف أي مشاكل في وقت مبكر. لا تتجاهل السعال المستمر أو ضيق التنفس، واستشر الطبيب فوراً عند الشعور بأي أعراض غير طبيعية.</a:t>
            </a:r>
            <a:endParaRPr lang="en-US" sz="1400" dirty="0">
              <a:latin typeface="Vazirmatn ExtraBold" pitchFamily="2" charset="-78"/>
              <a:cs typeface="Vazirmatn ExtraBold" pitchFamily="2" charset="-78"/>
            </a:endParaRPr>
          </a:p>
        </p:txBody>
      </p:sp>
    </p:spTree>
    <p:extLst>
      <p:ext uri="{BB962C8B-B14F-4D97-AF65-F5344CB8AC3E}">
        <p14:creationId xmlns:p14="http://schemas.microsoft.com/office/powerpoint/2010/main" val="2516552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CF1"/>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682DEC2-3579-FCA6-06D4-E5496DC914F0}"/>
              </a:ext>
            </a:extLst>
          </p:cNvPr>
          <p:cNvPicPr>
            <a:picLocks noChangeAspect="1"/>
          </p:cNvPicPr>
          <p:nvPr/>
        </p:nvPicPr>
        <p:blipFill>
          <a:blip r:embed="rId2"/>
          <a:stretch>
            <a:fillRect/>
          </a:stretch>
        </p:blipFill>
        <p:spPr>
          <a:xfrm>
            <a:off x="8869680" y="0"/>
            <a:ext cx="5760720" cy="8229600"/>
          </a:xfrm>
          <a:prstGeom prst="rect">
            <a:avLst/>
          </a:prstGeom>
        </p:spPr>
      </p:pic>
      <p:sp>
        <p:nvSpPr>
          <p:cNvPr id="3" name="Text 0">
            <a:extLst>
              <a:ext uri="{FF2B5EF4-FFF2-40B4-BE49-F238E27FC236}">
                <a16:creationId xmlns:a16="http://schemas.microsoft.com/office/drawing/2014/main" id="{7AAE6887-AA01-FE7D-A1A5-215D8B60CFD3}"/>
              </a:ext>
            </a:extLst>
          </p:cNvPr>
          <p:cNvSpPr/>
          <p:nvPr/>
        </p:nvSpPr>
        <p:spPr>
          <a:xfrm>
            <a:off x="2644140" y="1133356"/>
            <a:ext cx="5706070" cy="741759"/>
          </a:xfrm>
          <a:prstGeom prst="rect">
            <a:avLst/>
          </a:prstGeom>
          <a:noFill/>
          <a:ln/>
        </p:spPr>
        <p:txBody>
          <a:bodyPr wrap="none" lIns="0" tIns="0" rIns="0" bIns="0" rtlCol="0" anchor="t"/>
          <a:lstStyle/>
          <a:p>
            <a:pPr marL="0" indent="0" algn="r" rtl="1">
              <a:lnSpc>
                <a:spcPts val="5800"/>
              </a:lnSpc>
              <a:buNone/>
            </a:pPr>
            <a:r>
              <a:rPr lang="en-US" sz="4450" dirty="0">
                <a:solidFill>
                  <a:srgbClr val="532418"/>
                </a:solidFill>
                <a:latin typeface="Marcellus" pitchFamily="34" charset="0"/>
                <a:ea typeface="Marcellus" pitchFamily="34" charset="-122"/>
                <a:cs typeface="Marcellus" pitchFamily="34" charset="-120"/>
              </a:rPr>
              <a:t>خلاصة الدرس</a:t>
            </a:r>
            <a:endParaRPr lang="en-US" sz="4450" dirty="0"/>
          </a:p>
        </p:txBody>
      </p:sp>
      <p:sp>
        <p:nvSpPr>
          <p:cNvPr id="4" name="Shape 1">
            <a:extLst>
              <a:ext uri="{FF2B5EF4-FFF2-40B4-BE49-F238E27FC236}">
                <a16:creationId xmlns:a16="http://schemas.microsoft.com/office/drawing/2014/main" id="{A1BC1BB0-03AB-3017-B678-BCB2F2AAD9A4}"/>
              </a:ext>
            </a:extLst>
          </p:cNvPr>
          <p:cNvSpPr/>
          <p:nvPr/>
        </p:nvSpPr>
        <p:spPr>
          <a:xfrm>
            <a:off x="793790" y="2172772"/>
            <a:ext cx="7556421" cy="3737610"/>
          </a:xfrm>
          <a:prstGeom prst="roundRect">
            <a:avLst>
              <a:gd name="adj" fmla="val 2230"/>
            </a:avLst>
          </a:prstGeom>
          <a:solidFill>
            <a:srgbClr val="FFFFF4"/>
          </a:solidFill>
          <a:ln w="22860">
            <a:solidFill>
              <a:srgbClr val="FFE0CC"/>
            </a:solidFill>
            <a:prstDash val="solid"/>
          </a:ln>
        </p:spPr>
      </p:sp>
      <p:sp>
        <p:nvSpPr>
          <p:cNvPr id="5" name="Shape 2">
            <a:extLst>
              <a:ext uri="{FF2B5EF4-FFF2-40B4-BE49-F238E27FC236}">
                <a16:creationId xmlns:a16="http://schemas.microsoft.com/office/drawing/2014/main" id="{277D9D64-D51F-3382-7287-C8E52F5CC9DB}"/>
              </a:ext>
            </a:extLst>
          </p:cNvPr>
          <p:cNvSpPr/>
          <p:nvPr/>
        </p:nvSpPr>
        <p:spPr>
          <a:xfrm>
            <a:off x="4572000" y="2195632"/>
            <a:ext cx="3755350" cy="2289334"/>
          </a:xfrm>
          <a:prstGeom prst="roundRect">
            <a:avLst>
              <a:gd name="adj" fmla="val 3641"/>
            </a:avLst>
          </a:prstGeom>
          <a:solidFill>
            <a:srgbClr val="FFFFF4"/>
          </a:solidFill>
          <a:ln/>
        </p:spPr>
      </p:sp>
      <p:sp>
        <p:nvSpPr>
          <p:cNvPr id="6" name="Text 3">
            <a:extLst>
              <a:ext uri="{FF2B5EF4-FFF2-40B4-BE49-F238E27FC236}">
                <a16:creationId xmlns:a16="http://schemas.microsoft.com/office/drawing/2014/main" id="{0B3B1CF8-6461-87F2-5BCF-5ADD7946CC02}"/>
              </a:ext>
            </a:extLst>
          </p:cNvPr>
          <p:cNvSpPr/>
          <p:nvPr/>
        </p:nvSpPr>
        <p:spPr>
          <a:xfrm>
            <a:off x="4770358" y="2393990"/>
            <a:ext cx="3358634" cy="741521"/>
          </a:xfrm>
          <a:prstGeom prst="rect">
            <a:avLst/>
          </a:prstGeom>
          <a:noFill/>
          <a:ln/>
        </p:spPr>
        <p:txBody>
          <a:bodyPr wrap="square" lIns="0" tIns="0" rIns="0" bIns="0" rtlCol="0" anchor="t"/>
          <a:lstStyle/>
          <a:p>
            <a:pPr marL="0" indent="0" algn="r" rtl="1">
              <a:lnSpc>
                <a:spcPts val="2900"/>
              </a:lnSpc>
              <a:buNone/>
            </a:pPr>
            <a:r>
              <a:rPr lang="en-US" sz="2200" dirty="0">
                <a:solidFill>
                  <a:srgbClr val="67534F"/>
                </a:solidFill>
                <a:latin typeface="Marcellus" pitchFamily="34" charset="0"/>
                <a:ea typeface="Marcellus" pitchFamily="34" charset="-122"/>
                <a:cs typeface="Marcellus" pitchFamily="34" charset="-120"/>
              </a:rPr>
              <a:t>الجهاز التنفسي هو أساس الحياة</a:t>
            </a:r>
            <a:endParaRPr lang="en-US" sz="2200" dirty="0"/>
          </a:p>
        </p:txBody>
      </p:sp>
      <p:sp>
        <p:nvSpPr>
          <p:cNvPr id="7" name="Text 4">
            <a:extLst>
              <a:ext uri="{FF2B5EF4-FFF2-40B4-BE49-F238E27FC236}">
                <a16:creationId xmlns:a16="http://schemas.microsoft.com/office/drawing/2014/main" id="{7C1B0D1E-621D-0B7A-D7CD-7E600F09F394}"/>
              </a:ext>
            </a:extLst>
          </p:cNvPr>
          <p:cNvSpPr/>
          <p:nvPr/>
        </p:nvSpPr>
        <p:spPr>
          <a:xfrm>
            <a:off x="4770358" y="3254573"/>
            <a:ext cx="3358634" cy="1032034"/>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بدون تنفس سليم، لا يمكن لأي عضو في الجسم أن يعمل بشكل صحيح. التنفس هو عملية حيوية مستمرة تحدث آلاف المرات يومياً.</a:t>
            </a:r>
            <a:endParaRPr lang="en-US" sz="1550" dirty="0">
              <a:latin typeface="Vazirmatn ExtraBold" pitchFamily="2" charset="-78"/>
              <a:cs typeface="Vazirmatn ExtraBold" pitchFamily="2" charset="-78"/>
            </a:endParaRPr>
          </a:p>
        </p:txBody>
      </p:sp>
      <p:sp>
        <p:nvSpPr>
          <p:cNvPr id="8" name="Shape 5">
            <a:extLst>
              <a:ext uri="{FF2B5EF4-FFF2-40B4-BE49-F238E27FC236}">
                <a16:creationId xmlns:a16="http://schemas.microsoft.com/office/drawing/2014/main" id="{01B0D22B-B8AE-BE70-D56E-54DF6595C57A}"/>
              </a:ext>
            </a:extLst>
          </p:cNvPr>
          <p:cNvSpPr/>
          <p:nvPr/>
        </p:nvSpPr>
        <p:spPr>
          <a:xfrm>
            <a:off x="816650" y="2195632"/>
            <a:ext cx="3755350" cy="2289334"/>
          </a:xfrm>
          <a:prstGeom prst="rect">
            <a:avLst/>
          </a:prstGeom>
          <a:solidFill>
            <a:srgbClr val="FFFFF4"/>
          </a:solidFill>
          <a:ln/>
        </p:spPr>
      </p:sp>
      <p:sp>
        <p:nvSpPr>
          <p:cNvPr id="9" name="Shape 6">
            <a:extLst>
              <a:ext uri="{FF2B5EF4-FFF2-40B4-BE49-F238E27FC236}">
                <a16:creationId xmlns:a16="http://schemas.microsoft.com/office/drawing/2014/main" id="{6A2B160A-F74D-568A-EE22-79441CB9ACF7}"/>
              </a:ext>
            </a:extLst>
          </p:cNvPr>
          <p:cNvSpPr/>
          <p:nvPr/>
        </p:nvSpPr>
        <p:spPr>
          <a:xfrm>
            <a:off x="816650" y="2195632"/>
            <a:ext cx="22860" cy="2289334"/>
          </a:xfrm>
          <a:prstGeom prst="roundRect">
            <a:avLst>
              <a:gd name="adj" fmla="val 364651"/>
            </a:avLst>
          </a:prstGeom>
          <a:solidFill>
            <a:srgbClr val="FFE0CC"/>
          </a:solidFill>
          <a:ln/>
        </p:spPr>
      </p:sp>
      <p:sp>
        <p:nvSpPr>
          <p:cNvPr id="10" name="Text 7">
            <a:extLst>
              <a:ext uri="{FF2B5EF4-FFF2-40B4-BE49-F238E27FC236}">
                <a16:creationId xmlns:a16="http://schemas.microsoft.com/office/drawing/2014/main" id="{73D8D063-8D4E-132E-2243-668EEC96CF13}"/>
              </a:ext>
            </a:extLst>
          </p:cNvPr>
          <p:cNvSpPr/>
          <p:nvPr/>
        </p:nvSpPr>
        <p:spPr>
          <a:xfrm>
            <a:off x="1520666" y="2393990"/>
            <a:ext cx="2852976" cy="370761"/>
          </a:xfrm>
          <a:prstGeom prst="rect">
            <a:avLst/>
          </a:prstGeom>
          <a:noFill/>
          <a:ln/>
        </p:spPr>
        <p:txBody>
          <a:bodyPr wrap="none" lIns="0" tIns="0" rIns="0" bIns="0" rtlCol="0" anchor="t"/>
          <a:lstStyle/>
          <a:p>
            <a:pPr marL="0" indent="0" algn="r" rtl="1">
              <a:lnSpc>
                <a:spcPts val="2900"/>
              </a:lnSpc>
              <a:buNone/>
            </a:pPr>
            <a:r>
              <a:rPr lang="en-US" sz="2200" dirty="0">
                <a:solidFill>
                  <a:srgbClr val="67534F"/>
                </a:solidFill>
                <a:latin typeface="Marcellus" pitchFamily="34" charset="0"/>
                <a:ea typeface="Marcellus" pitchFamily="34" charset="-122"/>
                <a:cs typeface="Marcellus" pitchFamily="34" charset="-120"/>
              </a:rPr>
              <a:t>الفهم يقود إلى العناية</a:t>
            </a:r>
            <a:endParaRPr lang="en-US" sz="2200" dirty="0"/>
          </a:p>
        </p:txBody>
      </p:sp>
      <p:sp>
        <p:nvSpPr>
          <p:cNvPr id="11" name="Text 8">
            <a:extLst>
              <a:ext uri="{FF2B5EF4-FFF2-40B4-BE49-F238E27FC236}">
                <a16:creationId xmlns:a16="http://schemas.microsoft.com/office/drawing/2014/main" id="{B6269E2B-3CAB-E2C7-8D18-DD7999021419}"/>
              </a:ext>
            </a:extLst>
          </p:cNvPr>
          <p:cNvSpPr/>
          <p:nvPr/>
        </p:nvSpPr>
        <p:spPr>
          <a:xfrm>
            <a:off x="1015008" y="2883813"/>
            <a:ext cx="3358634" cy="774025"/>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معرفة مكونات الجهاز التنفسي ووظائفه المختلفة تساعدنا على تقدير أهميته واتخاذ خطوات فعالة للحفاظ على صحته.</a:t>
            </a:r>
            <a:endParaRPr lang="en-US" sz="1550" dirty="0">
              <a:latin typeface="Vazirmatn ExtraBold" pitchFamily="2" charset="-78"/>
              <a:cs typeface="Vazirmatn ExtraBold" pitchFamily="2" charset="-78"/>
            </a:endParaRPr>
          </a:p>
        </p:txBody>
      </p:sp>
      <p:sp>
        <p:nvSpPr>
          <p:cNvPr id="12" name="Shape 9">
            <a:extLst>
              <a:ext uri="{FF2B5EF4-FFF2-40B4-BE49-F238E27FC236}">
                <a16:creationId xmlns:a16="http://schemas.microsoft.com/office/drawing/2014/main" id="{E9646630-1BBE-8389-31CC-8AA13689D746}"/>
              </a:ext>
            </a:extLst>
          </p:cNvPr>
          <p:cNvSpPr/>
          <p:nvPr/>
        </p:nvSpPr>
        <p:spPr>
          <a:xfrm>
            <a:off x="816650" y="4484965"/>
            <a:ext cx="7510701" cy="1402556"/>
          </a:xfrm>
          <a:prstGeom prst="rect">
            <a:avLst/>
          </a:prstGeom>
          <a:solidFill>
            <a:srgbClr val="FFFFF4"/>
          </a:solidFill>
          <a:ln/>
        </p:spPr>
      </p:sp>
      <p:sp>
        <p:nvSpPr>
          <p:cNvPr id="13" name="Shape 10">
            <a:extLst>
              <a:ext uri="{FF2B5EF4-FFF2-40B4-BE49-F238E27FC236}">
                <a16:creationId xmlns:a16="http://schemas.microsoft.com/office/drawing/2014/main" id="{594B5682-9051-3E0B-055C-5DE20CF443E7}"/>
              </a:ext>
            </a:extLst>
          </p:cNvPr>
          <p:cNvSpPr/>
          <p:nvPr/>
        </p:nvSpPr>
        <p:spPr>
          <a:xfrm>
            <a:off x="816650" y="4484965"/>
            <a:ext cx="7510701" cy="22860"/>
          </a:xfrm>
          <a:prstGeom prst="roundRect">
            <a:avLst>
              <a:gd name="adj" fmla="val 364651"/>
            </a:avLst>
          </a:prstGeom>
          <a:solidFill>
            <a:srgbClr val="FFE0CC"/>
          </a:solidFill>
          <a:ln/>
        </p:spPr>
      </p:sp>
      <p:sp>
        <p:nvSpPr>
          <p:cNvPr id="14" name="Text 11">
            <a:extLst>
              <a:ext uri="{FF2B5EF4-FFF2-40B4-BE49-F238E27FC236}">
                <a16:creationId xmlns:a16="http://schemas.microsoft.com/office/drawing/2014/main" id="{0635A1E5-3D6B-4247-84F3-A3F800995B50}"/>
              </a:ext>
            </a:extLst>
          </p:cNvPr>
          <p:cNvSpPr/>
          <p:nvPr/>
        </p:nvSpPr>
        <p:spPr>
          <a:xfrm>
            <a:off x="5276017" y="4683323"/>
            <a:ext cx="2852976" cy="370761"/>
          </a:xfrm>
          <a:prstGeom prst="rect">
            <a:avLst/>
          </a:prstGeom>
          <a:noFill/>
          <a:ln/>
        </p:spPr>
        <p:txBody>
          <a:bodyPr wrap="none" lIns="0" tIns="0" rIns="0" bIns="0" rtlCol="0" anchor="t"/>
          <a:lstStyle/>
          <a:p>
            <a:pPr marL="0" indent="0" algn="r" rtl="1">
              <a:lnSpc>
                <a:spcPts val="2900"/>
              </a:lnSpc>
              <a:buNone/>
            </a:pPr>
            <a:r>
              <a:rPr lang="en-US" sz="2200" dirty="0">
                <a:solidFill>
                  <a:srgbClr val="67534F"/>
                </a:solidFill>
                <a:latin typeface="Marcellus" pitchFamily="34" charset="0"/>
                <a:ea typeface="Marcellus" pitchFamily="34" charset="-122"/>
                <a:cs typeface="Marcellus" pitchFamily="34" charset="-120"/>
              </a:rPr>
              <a:t>الصحة تعني حياة أفضل</a:t>
            </a:r>
            <a:endParaRPr lang="en-US" sz="2200" dirty="0"/>
          </a:p>
        </p:txBody>
      </p:sp>
      <p:sp>
        <p:nvSpPr>
          <p:cNvPr id="15" name="Text 12">
            <a:extLst>
              <a:ext uri="{FF2B5EF4-FFF2-40B4-BE49-F238E27FC236}">
                <a16:creationId xmlns:a16="http://schemas.microsoft.com/office/drawing/2014/main" id="{6BE455B6-5071-7DDE-A94D-44D4DC57B48C}"/>
              </a:ext>
            </a:extLst>
          </p:cNvPr>
          <p:cNvSpPr/>
          <p:nvPr/>
        </p:nvSpPr>
        <p:spPr>
          <a:xfrm>
            <a:off x="1015008" y="5173147"/>
            <a:ext cx="7113984" cy="516017"/>
          </a:xfrm>
          <a:prstGeom prst="rect">
            <a:avLst/>
          </a:prstGeom>
          <a:noFill/>
          <a:ln/>
        </p:spPr>
        <p:txBody>
          <a:bodyPr wrap="square" lIns="0" tIns="0" rIns="0" bIns="0" rtlCol="0" anchor="t"/>
          <a:lstStyle/>
          <a:p>
            <a:pPr marL="0" indent="0" algn="r" rtl="1">
              <a:lnSpc>
                <a:spcPts val="2000"/>
              </a:lnSpc>
              <a:buNone/>
            </a:pPr>
            <a:r>
              <a:rPr lang="en-US" sz="1550" dirty="0">
                <a:solidFill>
                  <a:srgbClr val="67534F"/>
                </a:solidFill>
                <a:latin typeface="Vazirmatn ExtraBold" pitchFamily="2" charset="-78"/>
                <a:ea typeface="Montserrat" pitchFamily="34" charset="-122"/>
                <a:cs typeface="Vazirmatn ExtraBold" pitchFamily="2" charset="-78"/>
              </a:rPr>
              <a:t>المحافظة على صحة الجهاز التنفسي من خلال العادات الصحية والابتعاد عن العوامل الضارة تعني حياة أكثر نشاطاً وصحة وطول أمداً.</a:t>
            </a:r>
            <a:endParaRPr lang="en-US" sz="1550" dirty="0">
              <a:latin typeface="Vazirmatn ExtraBold" pitchFamily="2" charset="-78"/>
              <a:cs typeface="Vazirmatn ExtraBold" pitchFamily="2" charset="-78"/>
            </a:endParaRPr>
          </a:p>
        </p:txBody>
      </p:sp>
      <p:sp>
        <p:nvSpPr>
          <p:cNvPr id="16" name="Text 13">
            <a:extLst>
              <a:ext uri="{FF2B5EF4-FFF2-40B4-BE49-F238E27FC236}">
                <a16:creationId xmlns:a16="http://schemas.microsoft.com/office/drawing/2014/main" id="{3599C1CB-543B-DFF3-1E95-76F8D9F269F8}"/>
              </a:ext>
            </a:extLst>
          </p:cNvPr>
          <p:cNvSpPr/>
          <p:nvPr/>
        </p:nvSpPr>
        <p:spPr>
          <a:xfrm>
            <a:off x="793790" y="6356866"/>
            <a:ext cx="7258764" cy="516017"/>
          </a:xfrm>
          <a:prstGeom prst="rect">
            <a:avLst/>
          </a:prstGeom>
          <a:noFill/>
          <a:ln/>
        </p:spPr>
        <p:txBody>
          <a:bodyPr wrap="square" lIns="0" tIns="0" rIns="0" bIns="0" rtlCol="0" anchor="t"/>
          <a:lstStyle/>
          <a:p>
            <a:pPr marL="0" indent="0" algn="r" rtl="1">
              <a:lnSpc>
                <a:spcPts val="2000"/>
              </a:lnSpc>
              <a:buNone/>
            </a:pPr>
            <a:r>
              <a:rPr lang="en-US" sz="1550" i="1" dirty="0">
                <a:solidFill>
                  <a:srgbClr val="67534F"/>
                </a:solidFill>
                <a:latin typeface="Vazirmatn ExtraBold" pitchFamily="2" charset="-78"/>
                <a:ea typeface="Montserrat" pitchFamily="34" charset="-122"/>
                <a:cs typeface="Vazirmatn ExtraBold" pitchFamily="2" charset="-78"/>
              </a:rPr>
              <a:t>"التنفس هو الجسر الذي يربط بين الحياة والموت، وكل نفس نتنفسه هو هدية يجب الحفاظ عليها."</a:t>
            </a:r>
            <a:endParaRPr lang="en-US" sz="1550" dirty="0">
              <a:latin typeface="Vazirmatn ExtraBold" pitchFamily="2" charset="-78"/>
              <a:cs typeface="Vazirmatn ExtraBold" pitchFamily="2" charset="-78"/>
            </a:endParaRPr>
          </a:p>
        </p:txBody>
      </p:sp>
      <p:sp>
        <p:nvSpPr>
          <p:cNvPr id="17" name="Shape 14">
            <a:extLst>
              <a:ext uri="{FF2B5EF4-FFF2-40B4-BE49-F238E27FC236}">
                <a16:creationId xmlns:a16="http://schemas.microsoft.com/office/drawing/2014/main" id="{C4E6780E-B5D9-9659-1A00-17E0705C4890}"/>
              </a:ext>
            </a:extLst>
          </p:cNvPr>
          <p:cNvSpPr/>
          <p:nvPr/>
        </p:nvSpPr>
        <p:spPr>
          <a:xfrm>
            <a:off x="8327350" y="6133624"/>
            <a:ext cx="22860" cy="962501"/>
          </a:xfrm>
          <a:prstGeom prst="rect">
            <a:avLst/>
          </a:prstGeom>
          <a:solidFill>
            <a:srgbClr val="FF954F"/>
          </a:solidFill>
          <a:ln/>
        </p:spPr>
      </p:sp>
    </p:spTree>
    <p:extLst>
      <p:ext uri="{BB962C8B-B14F-4D97-AF65-F5344CB8AC3E}">
        <p14:creationId xmlns:p14="http://schemas.microsoft.com/office/powerpoint/2010/main" val="86373465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TotalTime>
  <Words>1035</Words>
  <Application>Microsoft Office PowerPoint</Application>
  <PresentationFormat>Custom</PresentationFormat>
  <Paragraphs>71</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Marcellus</vt:lpstr>
      <vt:lpstr>Marcellus Light</vt:lpstr>
      <vt:lpstr>Vazirmatn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𝓩𝓔𝓘𝓐𝓓 زيہاد</dc:creator>
  <cp:lastModifiedBy>𝓩𝓔𝓘𝓐𝓓 زيہاد</cp:lastModifiedBy>
  <cp:revision>1</cp:revision>
  <dcterms:created xsi:type="dcterms:W3CDTF">2026-02-26T15:40:03Z</dcterms:created>
  <dcterms:modified xsi:type="dcterms:W3CDTF">2026-02-26T15:46:18Z</dcterms:modified>
</cp:coreProperties>
</file>